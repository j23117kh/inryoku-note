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877" autoAdjust="0"/>
  </p:normalViewPr>
  <p:slideViewPr>
    <p:cSldViewPr snapToGrid="0">
      <p:cViewPr varScale="1">
        <p:scale>
          <a:sx n="40" d="100"/>
          <a:sy n="40" d="100"/>
        </p:scale>
        <p:origin x="44" y="440"/>
      </p:cViewPr>
      <p:guideLst/>
    </p:cSldViewPr>
  </p:slideViewPr>
  <p:notesTextViewPr>
    <p:cViewPr>
      <p:scale>
        <a:sx n="1" d="1"/>
        <a:sy n="1" d="1"/>
      </p:scale>
      <p:origin x="0" y="0"/>
    </p:cViewPr>
  </p:notesTextViewPr>
  <p:sorterViewPr>
    <p:cViewPr>
      <p:scale>
        <a:sx n="69" d="100"/>
        <a:sy n="6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6EA3D4-298B-4E7A-816F-54FDDF9BF99A}" type="datetimeFigureOut">
              <a:rPr kumimoji="1" lang="ja-JP" altLang="en-US" smtClean="0"/>
              <a:t>2026/10/23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9C0FF1-9B51-4D20-BCE7-E92CC1A76AB0}" type="slidenum">
              <a:rPr kumimoji="1" lang="ja-JP" altLang="en-US" smtClean="0"/>
              <a:t>‹#›</a:t>
            </a:fld>
            <a:endParaRPr kumimoji="1" lang="ja-JP" altLang="en-US"/>
          </a:p>
        </p:txBody>
      </p:sp>
    </p:spTree>
    <p:extLst>
      <p:ext uri="{BB962C8B-B14F-4D97-AF65-F5344CB8AC3E}">
        <p14:creationId xmlns:p14="http://schemas.microsoft.com/office/powerpoint/2010/main" val="117054640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89C0FF1-9B51-4D20-BCE7-E92CC1A76AB0}" type="slidenum">
              <a:rPr kumimoji="1" lang="ja-JP" altLang="en-US" smtClean="0"/>
              <a:t>1</a:t>
            </a:fld>
            <a:endParaRPr kumimoji="1" lang="ja-JP" altLang="en-US"/>
          </a:p>
        </p:txBody>
      </p:sp>
    </p:spTree>
    <p:extLst>
      <p:ext uri="{BB962C8B-B14F-4D97-AF65-F5344CB8AC3E}">
        <p14:creationId xmlns:p14="http://schemas.microsoft.com/office/powerpoint/2010/main" val="2269703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背景です。現在、スマートフォンの普及により、個人が日常的にメモを記録し蓄積する習慣が広く定着しています。 一般的なメモアプリでは、蓄積した情報を探し出すために、主に3つの手法が用いられています。 入力した文字と完全に一致するものを探す「キーワード検索」、手作業で目印をつける「タグ付け」、そして保管場所で分ける「フォルダ分類」の3つです。</a:t>
            </a:r>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589C0FF1-9B51-4D20-BCE7-E92CC1A76AB0}" type="slidenum">
              <a:rPr kumimoji="1" lang="ja-JP" altLang="en-US" smtClean="0"/>
              <a:t>2</a:t>
            </a:fld>
            <a:endParaRPr kumimoji="1" lang="ja-JP" altLang="en-US"/>
          </a:p>
        </p:txBody>
      </p:sp>
    </p:spTree>
    <p:extLst>
      <p:ext uri="{BB962C8B-B14F-4D97-AF65-F5344CB8AC3E}">
        <p14:creationId xmlns:p14="http://schemas.microsoft.com/office/powerpoint/2010/main" val="3740370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本研究の目的は、過去のアイデアを無意識のうちに再利用できる環境を作ることです。 具体的には、過去のメモを自動で呼び出して再利用を促すこと。そして、面倒な手動での分類やタグ付け作業をなくし、ユーザーがただ「記録すること」だけに集中できるようにすることです。 これらを通じて、過去の記憶が自然に結びつく新しい思考支援システムを作りたいと考えています。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589C0FF1-9B51-4D20-BCE7-E92CC1A76AB0}" type="slidenum">
              <a:rPr kumimoji="1" lang="ja-JP" altLang="en-US" smtClean="0"/>
              <a:t>3</a:t>
            </a:fld>
            <a:endParaRPr kumimoji="1" lang="ja-JP" altLang="en-US"/>
          </a:p>
        </p:txBody>
      </p:sp>
    </p:spTree>
    <p:extLst>
      <p:ext uri="{BB962C8B-B14F-4D97-AF65-F5344CB8AC3E}">
        <p14:creationId xmlns:p14="http://schemas.microsoft.com/office/powerpoint/2010/main" val="3200259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しかし、これら従来の管理方法には限界があります。 キーワード検索では、表現や言い回しが少し違うだけで過去のメモがヒットせず、タグやフォルダ分類では、手作業の負担が大きいために情報がその枠内に孤立してしまいます。 その結果、せっかく蓄積した過去のアイデアがどこかに埋もれてしまうという問題が生じています。その根本的な原因は、文字の『完全一致』や『場所（フォルダ）』だけに頼っており、言葉の意味や文脈を理解して情報を繋ぎ合わせる仕組みがない点にあると考えました。</a:t>
            </a:r>
            <a:endParaRPr kumimoji="1" lang="ja-JP" altLang="en-US" dirty="0"/>
          </a:p>
        </p:txBody>
      </p:sp>
      <p:sp>
        <p:nvSpPr>
          <p:cNvPr id="4" name="スライド番号プレースホルダー 3"/>
          <p:cNvSpPr>
            <a:spLocks noGrp="1"/>
          </p:cNvSpPr>
          <p:nvPr>
            <p:ph type="sldNum" sz="quarter" idx="5"/>
          </p:nvPr>
        </p:nvSpPr>
        <p:spPr/>
        <p:txBody>
          <a:bodyPr/>
          <a:lstStyle/>
          <a:p>
            <a:fld id="{589C0FF1-9B51-4D20-BCE7-E92CC1A76AB0}" type="slidenum">
              <a:rPr kumimoji="1" lang="ja-JP" altLang="en-US" smtClean="0"/>
              <a:t>4</a:t>
            </a:fld>
            <a:endParaRPr kumimoji="1" lang="ja-JP" altLang="en-US"/>
          </a:p>
        </p:txBody>
      </p:sp>
    </p:spTree>
    <p:extLst>
      <p:ext uri="{BB962C8B-B14F-4D97-AF65-F5344CB8AC3E}">
        <p14:creationId xmlns:p14="http://schemas.microsoft.com/office/powerpoint/2010/main" val="3428472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この課題を解決するため、AIを用いた『引力ノート』を提案します。 手動のタグ付けに頼るのではなく、Gemini APIのベクトル埋め込みを用いて、文章の『意味』と『時間軸』でメモを自動的に繋ぐシステムです。 ユーザーが検索クエリを入力すると、類似度と作成日時から過去のメモへ向かって『引力』が発生し、思考の起点からグラフ構造を遡ることで、関連性と世代の近さに基づいたスコアを算出します。</a:t>
            </a:r>
            <a:endParaRPr kumimoji="1" lang="ja-JP" altLang="en-US" dirty="0"/>
          </a:p>
        </p:txBody>
      </p:sp>
      <p:sp>
        <p:nvSpPr>
          <p:cNvPr id="4" name="スライド番号プレースホルダー 3"/>
          <p:cNvSpPr>
            <a:spLocks noGrp="1"/>
          </p:cNvSpPr>
          <p:nvPr>
            <p:ph type="sldNum" sz="quarter" idx="5"/>
          </p:nvPr>
        </p:nvSpPr>
        <p:spPr/>
        <p:txBody>
          <a:bodyPr/>
          <a:lstStyle/>
          <a:p>
            <a:fld id="{589C0FF1-9B51-4D20-BCE7-E92CC1A76AB0}" type="slidenum">
              <a:rPr kumimoji="1" lang="ja-JP" altLang="en-US" smtClean="0"/>
              <a:t>5</a:t>
            </a:fld>
            <a:endParaRPr kumimoji="1" lang="ja-JP" altLang="en-US"/>
          </a:p>
        </p:txBody>
      </p:sp>
    </p:spTree>
    <p:extLst>
      <p:ext uri="{BB962C8B-B14F-4D97-AF65-F5344CB8AC3E}">
        <p14:creationId xmlns:p14="http://schemas.microsoft.com/office/powerpoint/2010/main" val="3316176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システムの全体構成はこのようになっています。 フロントエンドにはHTMLやJavaScript、インタラクティブな思考マップを描画する </a:t>
            </a:r>
            <a:r>
              <a:rPr kumimoji="1" lang="ja-JP" altLang="ja-JP" sz="1200" kern="1200" dirty="0">
                <a:solidFill>
                  <a:schemeClr val="tx1"/>
                </a:solidFill>
                <a:latin typeface="+mn-lt"/>
                <a:ea typeface="+mn-ea"/>
                <a:cs typeface="+mn-cs"/>
              </a:rPr>
              <a:t>vis-network</a:t>
            </a:r>
            <a:r>
              <a:rPr lang="ja-JP" altLang="ja-JP" dirty="0"/>
              <a:t> を採用し、リアルタイム検索を実現しています。 バックエンドにはFastAPIを使い、Gemini APIによるベクトル化やLLMを用いた日付・更新関係の抽出処理、さらに検索・グラフ探索・時間ペナルティを統合したコアロジックを実装しています。 データストアには、メタデータと複数次元のベクトルを効率的に扱える </a:t>
            </a:r>
            <a:r>
              <a:rPr kumimoji="1" lang="ja-JP" altLang="ja-JP" sz="1200" kern="1200" dirty="0">
                <a:solidFill>
                  <a:schemeClr val="tx1"/>
                </a:solidFill>
                <a:latin typeface="+mn-lt"/>
                <a:ea typeface="+mn-ea"/>
                <a:cs typeface="+mn-cs"/>
              </a:rPr>
              <a:t>SQLite </a:t>
            </a:r>
            <a:r>
              <a:rPr lang="ja-JP" altLang="ja-JP" dirty="0"/>
              <a:t>を採用しています。</a:t>
            </a:r>
            <a:endParaRPr kumimoji="1" lang="ja-JP" altLang="en-US" dirty="0"/>
          </a:p>
        </p:txBody>
      </p:sp>
      <p:sp>
        <p:nvSpPr>
          <p:cNvPr id="4" name="スライド番号プレースホルダー 3"/>
          <p:cNvSpPr>
            <a:spLocks noGrp="1"/>
          </p:cNvSpPr>
          <p:nvPr>
            <p:ph type="sldNum" sz="quarter" idx="5"/>
          </p:nvPr>
        </p:nvSpPr>
        <p:spPr/>
        <p:txBody>
          <a:bodyPr/>
          <a:lstStyle/>
          <a:p>
            <a:fld id="{589C0FF1-9B51-4D20-BCE7-E92CC1A76AB0}" type="slidenum">
              <a:rPr kumimoji="1" lang="ja-JP" altLang="en-US" smtClean="0"/>
              <a:t>6</a:t>
            </a:fld>
            <a:endParaRPr kumimoji="1" lang="ja-JP" altLang="en-US"/>
          </a:p>
        </p:txBody>
      </p:sp>
    </p:spTree>
    <p:extLst>
      <p:ext uri="{BB962C8B-B14F-4D97-AF65-F5344CB8AC3E}">
        <p14:creationId xmlns:p14="http://schemas.microsoft.com/office/powerpoint/2010/main" val="2984494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続いて、提案手法の有効性を検証した実験結果です。 検索手法ごとの性能を評価したところ、提案手法である『フルモデル』は、平均逆順位（MRR）や上位1位命中率、のいずれの指標においても従来手法（BM25や単なるセマンティック検索、グラフベース検索）を大きく上回る高い性能を示しました。 また、古い情報の混入率を示す </a:t>
            </a:r>
            <a:r>
              <a:rPr kumimoji="1" lang="ja-JP" altLang="ja-JP" sz="1200" kern="1200" dirty="0">
                <a:solidFill>
                  <a:schemeClr val="tx1"/>
                </a:solidFill>
                <a:latin typeface="+mn-lt"/>
                <a:ea typeface="+mn-ea"/>
                <a:cs typeface="+mn-cs"/>
              </a:rPr>
              <a:t>StaleAbove</a:t>
            </a:r>
            <a:r>
              <a:rPr lang="ja-JP" altLang="ja-JP" dirty="0"/>
              <a:t> においても、陳腐化ペナルティが正常に機能することで、古い情報が上位に居座る割合を劇的に抑制できることが確認できました。</a:t>
            </a:r>
            <a:endParaRPr kumimoji="1" lang="ja-JP" altLang="en-US" dirty="0"/>
          </a:p>
        </p:txBody>
      </p:sp>
      <p:sp>
        <p:nvSpPr>
          <p:cNvPr id="4" name="スライド番号プレースホルダー 3"/>
          <p:cNvSpPr>
            <a:spLocks noGrp="1"/>
          </p:cNvSpPr>
          <p:nvPr>
            <p:ph type="sldNum" sz="quarter" idx="5"/>
          </p:nvPr>
        </p:nvSpPr>
        <p:spPr/>
        <p:txBody>
          <a:bodyPr/>
          <a:lstStyle/>
          <a:p>
            <a:fld id="{589C0FF1-9B51-4D20-BCE7-E92CC1A76AB0}" type="slidenum">
              <a:rPr kumimoji="1" lang="ja-JP" altLang="en-US" smtClean="0"/>
              <a:t>7</a:t>
            </a:fld>
            <a:endParaRPr kumimoji="1" lang="ja-JP" altLang="en-US"/>
          </a:p>
        </p:txBody>
      </p:sp>
    </p:spTree>
    <p:extLst>
      <p:ext uri="{BB962C8B-B14F-4D97-AF65-F5344CB8AC3E}">
        <p14:creationId xmlns:p14="http://schemas.microsoft.com/office/powerpoint/2010/main" val="3955105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最後に、今後の展望と課題です。 1点目は、より大量のメモデータを対象としたシステム・アルゴリズムの拡張です。 </a:t>
            </a:r>
            <a:r>
              <a:rPr lang="en-US" altLang="ja-JP" dirty="0"/>
              <a:t>2</a:t>
            </a:r>
            <a:r>
              <a:rPr lang="ja-JP" altLang="ja-JP" dirty="0"/>
              <a:t>点目は、実際の研究活動や日常のアイデア出しにおいて実際にシステムを運用し、アイデアの創出頻度や想起のしやすさを評価するユーザー評価の実施です。これらを通じて、実用化に向けたインターフェースの洗練を進めていきます。</a:t>
            </a:r>
          </a:p>
          <a:p>
            <a:r>
              <a:rPr lang="ja-JP" altLang="ja-JP" dirty="0"/>
              <a:t>以上で発表を終わります。ご静聴ありがとうございました。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589C0FF1-9B51-4D20-BCE7-E92CC1A76AB0}" type="slidenum">
              <a:rPr kumimoji="1" lang="ja-JP" altLang="en-US" smtClean="0"/>
              <a:t>8</a:t>
            </a:fld>
            <a:endParaRPr kumimoji="1" lang="ja-JP" altLang="en-US"/>
          </a:p>
        </p:txBody>
      </p:sp>
    </p:spTree>
    <p:extLst>
      <p:ext uri="{BB962C8B-B14F-4D97-AF65-F5344CB8AC3E}">
        <p14:creationId xmlns:p14="http://schemas.microsoft.com/office/powerpoint/2010/main" val="3617926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FB93B0-8363-680E-147D-AD2C57160B8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6CF93B1-E2FF-212C-642E-186F172C14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137C4DB-E7C9-5144-2368-48F735A0C245}"/>
              </a:ext>
            </a:extLst>
          </p:cNvPr>
          <p:cNvSpPr>
            <a:spLocks noGrp="1"/>
          </p:cNvSpPr>
          <p:nvPr>
            <p:ph type="dt" sz="half" idx="10"/>
          </p:nvPr>
        </p:nvSpPr>
        <p:spPr/>
        <p:txBody>
          <a:bodyPr/>
          <a:lstStyle/>
          <a:p>
            <a:fld id="{0E4C865E-EDE2-4540-B0ED-6FA7725ABCC7}" type="datetimeFigureOut">
              <a:rPr kumimoji="1" lang="ja-JP" altLang="en-US" smtClean="0"/>
              <a:t>2026/10/23</a:t>
            </a:fld>
            <a:endParaRPr kumimoji="1" lang="ja-JP" altLang="en-US"/>
          </a:p>
        </p:txBody>
      </p:sp>
      <p:sp>
        <p:nvSpPr>
          <p:cNvPr id="5" name="フッター プレースホルダー 4">
            <a:extLst>
              <a:ext uri="{FF2B5EF4-FFF2-40B4-BE49-F238E27FC236}">
                <a16:creationId xmlns:a16="http://schemas.microsoft.com/office/drawing/2014/main" id="{9A80146A-FC5E-1C76-570E-911AF9283A8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12D4D16-EBC2-DEA4-6F3F-9A44AC4EB530}"/>
              </a:ext>
            </a:extLst>
          </p:cNvPr>
          <p:cNvSpPr>
            <a:spLocks noGrp="1"/>
          </p:cNvSpPr>
          <p:nvPr>
            <p:ph type="sldNum" sz="quarter" idx="12"/>
          </p:nvPr>
        </p:nvSpPr>
        <p:spPr/>
        <p:txBody>
          <a:bodyPr/>
          <a:lstStyle/>
          <a:p>
            <a:fld id="{0DF62776-8DAD-4202-A31E-2F633A6AA0DF}" type="slidenum">
              <a:rPr kumimoji="1" lang="ja-JP" altLang="en-US" smtClean="0"/>
              <a:t>‹#›</a:t>
            </a:fld>
            <a:endParaRPr kumimoji="1" lang="ja-JP" altLang="en-US"/>
          </a:p>
        </p:txBody>
      </p:sp>
    </p:spTree>
    <p:extLst>
      <p:ext uri="{BB962C8B-B14F-4D97-AF65-F5344CB8AC3E}">
        <p14:creationId xmlns:p14="http://schemas.microsoft.com/office/powerpoint/2010/main" val="657044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A00DE7-453B-75EC-1558-CCF49E991E6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6B544E5-C713-3304-14F9-2554D83D3D9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D017E4E-0E93-0E21-2CB0-47BC2AF1D3E5}"/>
              </a:ext>
            </a:extLst>
          </p:cNvPr>
          <p:cNvSpPr>
            <a:spLocks noGrp="1"/>
          </p:cNvSpPr>
          <p:nvPr>
            <p:ph type="dt" sz="half" idx="10"/>
          </p:nvPr>
        </p:nvSpPr>
        <p:spPr/>
        <p:txBody>
          <a:bodyPr/>
          <a:lstStyle/>
          <a:p>
            <a:fld id="{0E4C865E-EDE2-4540-B0ED-6FA7725ABCC7}" type="datetimeFigureOut">
              <a:rPr kumimoji="1" lang="ja-JP" altLang="en-US" smtClean="0"/>
              <a:t>2026/10/23</a:t>
            </a:fld>
            <a:endParaRPr kumimoji="1" lang="ja-JP" altLang="en-US"/>
          </a:p>
        </p:txBody>
      </p:sp>
      <p:sp>
        <p:nvSpPr>
          <p:cNvPr id="5" name="フッター プレースホルダー 4">
            <a:extLst>
              <a:ext uri="{FF2B5EF4-FFF2-40B4-BE49-F238E27FC236}">
                <a16:creationId xmlns:a16="http://schemas.microsoft.com/office/drawing/2014/main" id="{E13B8604-EC2C-37F5-3380-B9104EB9597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DEAB52-7D6D-D5F0-4E52-4EA8EEC46CD8}"/>
              </a:ext>
            </a:extLst>
          </p:cNvPr>
          <p:cNvSpPr>
            <a:spLocks noGrp="1"/>
          </p:cNvSpPr>
          <p:nvPr>
            <p:ph type="sldNum" sz="quarter" idx="12"/>
          </p:nvPr>
        </p:nvSpPr>
        <p:spPr/>
        <p:txBody>
          <a:bodyPr/>
          <a:lstStyle/>
          <a:p>
            <a:fld id="{0DF62776-8DAD-4202-A31E-2F633A6AA0DF}" type="slidenum">
              <a:rPr kumimoji="1" lang="ja-JP" altLang="en-US" smtClean="0"/>
              <a:t>‹#›</a:t>
            </a:fld>
            <a:endParaRPr kumimoji="1" lang="ja-JP" altLang="en-US"/>
          </a:p>
        </p:txBody>
      </p:sp>
    </p:spTree>
    <p:extLst>
      <p:ext uri="{BB962C8B-B14F-4D97-AF65-F5344CB8AC3E}">
        <p14:creationId xmlns:p14="http://schemas.microsoft.com/office/powerpoint/2010/main" val="1179169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5205C9-CFF6-0A2B-C650-A5494D55B04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F25FA8F-48BA-8E99-F0F8-3919CF420F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1CE305-674C-832D-7C8E-1686D022959F}"/>
              </a:ext>
            </a:extLst>
          </p:cNvPr>
          <p:cNvSpPr>
            <a:spLocks noGrp="1"/>
          </p:cNvSpPr>
          <p:nvPr>
            <p:ph type="dt" sz="half" idx="10"/>
          </p:nvPr>
        </p:nvSpPr>
        <p:spPr/>
        <p:txBody>
          <a:bodyPr/>
          <a:lstStyle/>
          <a:p>
            <a:fld id="{0E4C865E-EDE2-4540-B0ED-6FA7725ABCC7}" type="datetimeFigureOut">
              <a:rPr kumimoji="1" lang="ja-JP" altLang="en-US" smtClean="0"/>
              <a:t>2026/10/23</a:t>
            </a:fld>
            <a:endParaRPr kumimoji="1" lang="ja-JP" altLang="en-US"/>
          </a:p>
        </p:txBody>
      </p:sp>
      <p:sp>
        <p:nvSpPr>
          <p:cNvPr id="5" name="フッター プレースホルダー 4">
            <a:extLst>
              <a:ext uri="{FF2B5EF4-FFF2-40B4-BE49-F238E27FC236}">
                <a16:creationId xmlns:a16="http://schemas.microsoft.com/office/drawing/2014/main" id="{6FA8C998-81CC-72B6-AB91-F3058807196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8235BAE-C8DE-10DB-93E0-E3B00EDDCFFE}"/>
              </a:ext>
            </a:extLst>
          </p:cNvPr>
          <p:cNvSpPr>
            <a:spLocks noGrp="1"/>
          </p:cNvSpPr>
          <p:nvPr>
            <p:ph type="sldNum" sz="quarter" idx="12"/>
          </p:nvPr>
        </p:nvSpPr>
        <p:spPr/>
        <p:txBody>
          <a:bodyPr/>
          <a:lstStyle/>
          <a:p>
            <a:fld id="{0DF62776-8DAD-4202-A31E-2F633A6AA0DF}" type="slidenum">
              <a:rPr kumimoji="1" lang="ja-JP" altLang="en-US" smtClean="0"/>
              <a:t>‹#›</a:t>
            </a:fld>
            <a:endParaRPr kumimoji="1" lang="ja-JP" altLang="en-US"/>
          </a:p>
        </p:txBody>
      </p:sp>
    </p:spTree>
    <p:extLst>
      <p:ext uri="{BB962C8B-B14F-4D97-AF65-F5344CB8AC3E}">
        <p14:creationId xmlns:p14="http://schemas.microsoft.com/office/powerpoint/2010/main" val="88776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938924-C985-7753-1891-C3CC460A90C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D52842B-EB1D-532F-DF68-485AC68FCD0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27FA32A-3D51-44EC-2D0B-86E2DA3CF4B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3DAE3C8-E855-B339-8EF6-9D470EDD08F5}"/>
              </a:ext>
            </a:extLst>
          </p:cNvPr>
          <p:cNvSpPr>
            <a:spLocks noGrp="1"/>
          </p:cNvSpPr>
          <p:nvPr>
            <p:ph type="dt" sz="half" idx="10"/>
          </p:nvPr>
        </p:nvSpPr>
        <p:spPr/>
        <p:txBody>
          <a:bodyPr/>
          <a:lstStyle/>
          <a:p>
            <a:fld id="{0E4C865E-EDE2-4540-B0ED-6FA7725ABCC7}" type="datetimeFigureOut">
              <a:rPr kumimoji="1" lang="ja-JP" altLang="en-US" smtClean="0"/>
              <a:t>2026/10/23</a:t>
            </a:fld>
            <a:endParaRPr kumimoji="1" lang="ja-JP" altLang="en-US"/>
          </a:p>
        </p:txBody>
      </p:sp>
      <p:sp>
        <p:nvSpPr>
          <p:cNvPr id="6" name="フッター プレースホルダー 5">
            <a:extLst>
              <a:ext uri="{FF2B5EF4-FFF2-40B4-BE49-F238E27FC236}">
                <a16:creationId xmlns:a16="http://schemas.microsoft.com/office/drawing/2014/main" id="{9A306FC2-95E0-2CE3-22FC-ABFC006B965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9EE0EE1-ED23-18A2-1B91-E215B6194A11}"/>
              </a:ext>
            </a:extLst>
          </p:cNvPr>
          <p:cNvSpPr>
            <a:spLocks noGrp="1"/>
          </p:cNvSpPr>
          <p:nvPr>
            <p:ph type="sldNum" sz="quarter" idx="12"/>
          </p:nvPr>
        </p:nvSpPr>
        <p:spPr/>
        <p:txBody>
          <a:bodyPr/>
          <a:lstStyle/>
          <a:p>
            <a:fld id="{0DF62776-8DAD-4202-A31E-2F633A6AA0DF}" type="slidenum">
              <a:rPr kumimoji="1" lang="ja-JP" altLang="en-US" smtClean="0"/>
              <a:t>‹#›</a:t>
            </a:fld>
            <a:endParaRPr kumimoji="1" lang="ja-JP" altLang="en-US"/>
          </a:p>
        </p:txBody>
      </p:sp>
    </p:spTree>
    <p:extLst>
      <p:ext uri="{BB962C8B-B14F-4D97-AF65-F5344CB8AC3E}">
        <p14:creationId xmlns:p14="http://schemas.microsoft.com/office/powerpoint/2010/main" val="4105481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FE2808-4C70-687E-95DE-D2A296DCE7B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258167B-84A2-E96F-B0E7-001ADA04D3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835FDA7-69CF-67A8-9CBC-3BCE9F96B6B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D9E931D-71A6-106B-13C0-0952BEBF5C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90AB9AD-DE7C-9E22-9762-B7108CDE5FD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38E28DE-DE41-366E-9775-552311676919}"/>
              </a:ext>
            </a:extLst>
          </p:cNvPr>
          <p:cNvSpPr>
            <a:spLocks noGrp="1"/>
          </p:cNvSpPr>
          <p:nvPr>
            <p:ph type="dt" sz="half" idx="10"/>
          </p:nvPr>
        </p:nvSpPr>
        <p:spPr/>
        <p:txBody>
          <a:bodyPr/>
          <a:lstStyle/>
          <a:p>
            <a:fld id="{0E4C865E-EDE2-4540-B0ED-6FA7725ABCC7}" type="datetimeFigureOut">
              <a:rPr kumimoji="1" lang="ja-JP" altLang="en-US" smtClean="0"/>
              <a:t>2026/10/23</a:t>
            </a:fld>
            <a:endParaRPr kumimoji="1" lang="ja-JP" altLang="en-US"/>
          </a:p>
        </p:txBody>
      </p:sp>
      <p:sp>
        <p:nvSpPr>
          <p:cNvPr id="8" name="フッター プレースホルダー 7">
            <a:extLst>
              <a:ext uri="{FF2B5EF4-FFF2-40B4-BE49-F238E27FC236}">
                <a16:creationId xmlns:a16="http://schemas.microsoft.com/office/drawing/2014/main" id="{3346AEE3-E100-D02C-9DEF-D12B2C1C651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E3098E8-FCCA-6BBA-90B3-A9A75AAF2D3C}"/>
              </a:ext>
            </a:extLst>
          </p:cNvPr>
          <p:cNvSpPr>
            <a:spLocks noGrp="1"/>
          </p:cNvSpPr>
          <p:nvPr>
            <p:ph type="sldNum" sz="quarter" idx="12"/>
          </p:nvPr>
        </p:nvSpPr>
        <p:spPr/>
        <p:txBody>
          <a:bodyPr/>
          <a:lstStyle/>
          <a:p>
            <a:fld id="{0DF62776-8DAD-4202-A31E-2F633A6AA0DF}" type="slidenum">
              <a:rPr kumimoji="1" lang="ja-JP" altLang="en-US" smtClean="0"/>
              <a:t>‹#›</a:t>
            </a:fld>
            <a:endParaRPr kumimoji="1" lang="ja-JP" altLang="en-US"/>
          </a:p>
        </p:txBody>
      </p:sp>
    </p:spTree>
    <p:extLst>
      <p:ext uri="{BB962C8B-B14F-4D97-AF65-F5344CB8AC3E}">
        <p14:creationId xmlns:p14="http://schemas.microsoft.com/office/powerpoint/2010/main" val="2774166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445614-7CCE-CCD2-93FF-AE79F8AD8FA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C25A2D5-588B-9756-C96B-7462319CB419}"/>
              </a:ext>
            </a:extLst>
          </p:cNvPr>
          <p:cNvSpPr>
            <a:spLocks noGrp="1"/>
          </p:cNvSpPr>
          <p:nvPr>
            <p:ph type="dt" sz="half" idx="10"/>
          </p:nvPr>
        </p:nvSpPr>
        <p:spPr/>
        <p:txBody>
          <a:bodyPr/>
          <a:lstStyle/>
          <a:p>
            <a:fld id="{0E4C865E-EDE2-4540-B0ED-6FA7725ABCC7}" type="datetimeFigureOut">
              <a:rPr kumimoji="1" lang="ja-JP" altLang="en-US" smtClean="0"/>
              <a:t>2026/10/23</a:t>
            </a:fld>
            <a:endParaRPr kumimoji="1" lang="ja-JP" altLang="en-US"/>
          </a:p>
        </p:txBody>
      </p:sp>
      <p:sp>
        <p:nvSpPr>
          <p:cNvPr id="4" name="フッター プレースホルダー 3">
            <a:extLst>
              <a:ext uri="{FF2B5EF4-FFF2-40B4-BE49-F238E27FC236}">
                <a16:creationId xmlns:a16="http://schemas.microsoft.com/office/drawing/2014/main" id="{11A0392C-B9E9-AAD5-E8FE-FC844B55AF3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01BD847-0904-A92A-61E6-A541C211490C}"/>
              </a:ext>
            </a:extLst>
          </p:cNvPr>
          <p:cNvSpPr>
            <a:spLocks noGrp="1"/>
          </p:cNvSpPr>
          <p:nvPr>
            <p:ph type="sldNum" sz="quarter" idx="12"/>
          </p:nvPr>
        </p:nvSpPr>
        <p:spPr/>
        <p:txBody>
          <a:bodyPr/>
          <a:lstStyle/>
          <a:p>
            <a:fld id="{0DF62776-8DAD-4202-A31E-2F633A6AA0DF}" type="slidenum">
              <a:rPr kumimoji="1" lang="ja-JP" altLang="en-US" smtClean="0"/>
              <a:t>‹#›</a:t>
            </a:fld>
            <a:endParaRPr kumimoji="1" lang="ja-JP" altLang="en-US"/>
          </a:p>
        </p:txBody>
      </p:sp>
    </p:spTree>
    <p:extLst>
      <p:ext uri="{BB962C8B-B14F-4D97-AF65-F5344CB8AC3E}">
        <p14:creationId xmlns:p14="http://schemas.microsoft.com/office/powerpoint/2010/main" val="1168083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C8A42F0-471F-D6C6-B634-BAB2F68743FA}"/>
              </a:ext>
            </a:extLst>
          </p:cNvPr>
          <p:cNvSpPr>
            <a:spLocks noGrp="1"/>
          </p:cNvSpPr>
          <p:nvPr>
            <p:ph type="dt" sz="half" idx="10"/>
          </p:nvPr>
        </p:nvSpPr>
        <p:spPr/>
        <p:txBody>
          <a:bodyPr/>
          <a:lstStyle/>
          <a:p>
            <a:fld id="{0E4C865E-EDE2-4540-B0ED-6FA7725ABCC7}" type="datetimeFigureOut">
              <a:rPr kumimoji="1" lang="ja-JP" altLang="en-US" smtClean="0"/>
              <a:t>2026/10/23</a:t>
            </a:fld>
            <a:endParaRPr kumimoji="1" lang="ja-JP" altLang="en-US"/>
          </a:p>
        </p:txBody>
      </p:sp>
      <p:sp>
        <p:nvSpPr>
          <p:cNvPr id="3" name="フッター プレースホルダー 2">
            <a:extLst>
              <a:ext uri="{FF2B5EF4-FFF2-40B4-BE49-F238E27FC236}">
                <a16:creationId xmlns:a16="http://schemas.microsoft.com/office/drawing/2014/main" id="{BF02C59F-F463-480E-E45E-D9B3AC42F2A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E7F967B-B767-4AEF-02DF-8E1808E80D95}"/>
              </a:ext>
            </a:extLst>
          </p:cNvPr>
          <p:cNvSpPr>
            <a:spLocks noGrp="1"/>
          </p:cNvSpPr>
          <p:nvPr>
            <p:ph type="sldNum" sz="quarter" idx="12"/>
          </p:nvPr>
        </p:nvSpPr>
        <p:spPr/>
        <p:txBody>
          <a:bodyPr/>
          <a:lstStyle/>
          <a:p>
            <a:fld id="{0DF62776-8DAD-4202-A31E-2F633A6AA0DF}" type="slidenum">
              <a:rPr kumimoji="1" lang="ja-JP" altLang="en-US" smtClean="0"/>
              <a:t>‹#›</a:t>
            </a:fld>
            <a:endParaRPr kumimoji="1" lang="ja-JP" altLang="en-US"/>
          </a:p>
        </p:txBody>
      </p:sp>
    </p:spTree>
    <p:extLst>
      <p:ext uri="{BB962C8B-B14F-4D97-AF65-F5344CB8AC3E}">
        <p14:creationId xmlns:p14="http://schemas.microsoft.com/office/powerpoint/2010/main" val="1449595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2B4887-80E5-3B95-3666-5D545829F8F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03884EA-0B03-9FE2-F97B-3C8DE1EF18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8E2950D-4862-C311-1C43-B6D98664D3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A95135F-E5BD-B596-CD48-8FDE8335DB53}"/>
              </a:ext>
            </a:extLst>
          </p:cNvPr>
          <p:cNvSpPr>
            <a:spLocks noGrp="1"/>
          </p:cNvSpPr>
          <p:nvPr>
            <p:ph type="dt" sz="half" idx="10"/>
          </p:nvPr>
        </p:nvSpPr>
        <p:spPr/>
        <p:txBody>
          <a:bodyPr/>
          <a:lstStyle/>
          <a:p>
            <a:fld id="{0E4C865E-EDE2-4540-B0ED-6FA7725ABCC7}" type="datetimeFigureOut">
              <a:rPr kumimoji="1" lang="ja-JP" altLang="en-US" smtClean="0"/>
              <a:t>2026/10/23</a:t>
            </a:fld>
            <a:endParaRPr kumimoji="1" lang="ja-JP" altLang="en-US"/>
          </a:p>
        </p:txBody>
      </p:sp>
      <p:sp>
        <p:nvSpPr>
          <p:cNvPr id="6" name="フッター プレースホルダー 5">
            <a:extLst>
              <a:ext uri="{FF2B5EF4-FFF2-40B4-BE49-F238E27FC236}">
                <a16:creationId xmlns:a16="http://schemas.microsoft.com/office/drawing/2014/main" id="{A4B17384-1EED-D12C-1057-84FBAAA5AF2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07E52AC-FF0B-D0F7-41E2-C0C0A08C4882}"/>
              </a:ext>
            </a:extLst>
          </p:cNvPr>
          <p:cNvSpPr>
            <a:spLocks noGrp="1"/>
          </p:cNvSpPr>
          <p:nvPr>
            <p:ph type="sldNum" sz="quarter" idx="12"/>
          </p:nvPr>
        </p:nvSpPr>
        <p:spPr/>
        <p:txBody>
          <a:bodyPr/>
          <a:lstStyle/>
          <a:p>
            <a:fld id="{0DF62776-8DAD-4202-A31E-2F633A6AA0DF}" type="slidenum">
              <a:rPr kumimoji="1" lang="ja-JP" altLang="en-US" smtClean="0"/>
              <a:t>‹#›</a:t>
            </a:fld>
            <a:endParaRPr kumimoji="1" lang="ja-JP" altLang="en-US"/>
          </a:p>
        </p:txBody>
      </p:sp>
    </p:spTree>
    <p:extLst>
      <p:ext uri="{BB962C8B-B14F-4D97-AF65-F5344CB8AC3E}">
        <p14:creationId xmlns:p14="http://schemas.microsoft.com/office/powerpoint/2010/main" val="2821528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AABE1F-0AEF-EF9B-E81F-B8C22BD39DC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B28D5B8-518C-B074-11A6-6F8B6A99728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B2EAB4-C913-CCD3-7312-9D40300D75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6E4214A-2A72-D4AD-D2ED-2AE997FEFC05}"/>
              </a:ext>
            </a:extLst>
          </p:cNvPr>
          <p:cNvSpPr>
            <a:spLocks noGrp="1"/>
          </p:cNvSpPr>
          <p:nvPr>
            <p:ph type="dt" sz="half" idx="10"/>
          </p:nvPr>
        </p:nvSpPr>
        <p:spPr/>
        <p:txBody>
          <a:bodyPr/>
          <a:lstStyle/>
          <a:p>
            <a:fld id="{0E4C865E-EDE2-4540-B0ED-6FA7725ABCC7}" type="datetimeFigureOut">
              <a:rPr kumimoji="1" lang="ja-JP" altLang="en-US" smtClean="0"/>
              <a:t>2026/10/23</a:t>
            </a:fld>
            <a:endParaRPr kumimoji="1" lang="ja-JP" altLang="en-US"/>
          </a:p>
        </p:txBody>
      </p:sp>
      <p:sp>
        <p:nvSpPr>
          <p:cNvPr id="6" name="フッター プレースホルダー 5">
            <a:extLst>
              <a:ext uri="{FF2B5EF4-FFF2-40B4-BE49-F238E27FC236}">
                <a16:creationId xmlns:a16="http://schemas.microsoft.com/office/drawing/2014/main" id="{FE8AA1A0-2C92-39DA-727E-34AA6CC0F86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BEC2FF7-C5BB-B8A4-9032-883CF1170C83}"/>
              </a:ext>
            </a:extLst>
          </p:cNvPr>
          <p:cNvSpPr>
            <a:spLocks noGrp="1"/>
          </p:cNvSpPr>
          <p:nvPr>
            <p:ph type="sldNum" sz="quarter" idx="12"/>
          </p:nvPr>
        </p:nvSpPr>
        <p:spPr/>
        <p:txBody>
          <a:bodyPr/>
          <a:lstStyle/>
          <a:p>
            <a:fld id="{0DF62776-8DAD-4202-A31E-2F633A6AA0DF}" type="slidenum">
              <a:rPr kumimoji="1" lang="ja-JP" altLang="en-US" smtClean="0"/>
              <a:t>‹#›</a:t>
            </a:fld>
            <a:endParaRPr kumimoji="1" lang="ja-JP" altLang="en-US"/>
          </a:p>
        </p:txBody>
      </p:sp>
    </p:spTree>
    <p:extLst>
      <p:ext uri="{BB962C8B-B14F-4D97-AF65-F5344CB8AC3E}">
        <p14:creationId xmlns:p14="http://schemas.microsoft.com/office/powerpoint/2010/main" val="1842237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A3484C-A3A5-5A89-63CD-621800455A1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3AB5876-B166-1C7E-8493-350EF4A8964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5403F34-03E6-3730-324C-89EC7B870F09}"/>
              </a:ext>
            </a:extLst>
          </p:cNvPr>
          <p:cNvSpPr>
            <a:spLocks noGrp="1"/>
          </p:cNvSpPr>
          <p:nvPr>
            <p:ph type="dt" sz="half" idx="10"/>
          </p:nvPr>
        </p:nvSpPr>
        <p:spPr/>
        <p:txBody>
          <a:bodyPr/>
          <a:lstStyle/>
          <a:p>
            <a:fld id="{0E4C865E-EDE2-4540-B0ED-6FA7725ABCC7}" type="datetimeFigureOut">
              <a:rPr kumimoji="1" lang="ja-JP" altLang="en-US" smtClean="0"/>
              <a:t>2026/10/23</a:t>
            </a:fld>
            <a:endParaRPr kumimoji="1" lang="ja-JP" altLang="en-US"/>
          </a:p>
        </p:txBody>
      </p:sp>
      <p:sp>
        <p:nvSpPr>
          <p:cNvPr id="5" name="フッター プレースホルダー 4">
            <a:extLst>
              <a:ext uri="{FF2B5EF4-FFF2-40B4-BE49-F238E27FC236}">
                <a16:creationId xmlns:a16="http://schemas.microsoft.com/office/drawing/2014/main" id="{9526F2ED-8B99-2B13-C867-CBF945CC1AA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3102F1F-5334-5AA0-171E-271481839FE8}"/>
              </a:ext>
            </a:extLst>
          </p:cNvPr>
          <p:cNvSpPr>
            <a:spLocks noGrp="1"/>
          </p:cNvSpPr>
          <p:nvPr>
            <p:ph type="sldNum" sz="quarter" idx="12"/>
          </p:nvPr>
        </p:nvSpPr>
        <p:spPr/>
        <p:txBody>
          <a:bodyPr/>
          <a:lstStyle/>
          <a:p>
            <a:fld id="{0DF62776-8DAD-4202-A31E-2F633A6AA0DF}" type="slidenum">
              <a:rPr kumimoji="1" lang="ja-JP" altLang="en-US" smtClean="0"/>
              <a:t>‹#›</a:t>
            </a:fld>
            <a:endParaRPr kumimoji="1" lang="ja-JP" altLang="en-US"/>
          </a:p>
        </p:txBody>
      </p:sp>
    </p:spTree>
    <p:extLst>
      <p:ext uri="{BB962C8B-B14F-4D97-AF65-F5344CB8AC3E}">
        <p14:creationId xmlns:p14="http://schemas.microsoft.com/office/powerpoint/2010/main" val="885439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065E634-9B30-DF7B-16CD-F965A07322F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2B0578E-EEE1-4BA2-55FC-B55757400DB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6EA7BB1-0137-1670-FB3A-5E53F6864847}"/>
              </a:ext>
            </a:extLst>
          </p:cNvPr>
          <p:cNvSpPr>
            <a:spLocks noGrp="1"/>
          </p:cNvSpPr>
          <p:nvPr>
            <p:ph type="dt" sz="half" idx="10"/>
          </p:nvPr>
        </p:nvSpPr>
        <p:spPr/>
        <p:txBody>
          <a:bodyPr/>
          <a:lstStyle/>
          <a:p>
            <a:fld id="{0E4C865E-EDE2-4540-B0ED-6FA7725ABCC7}" type="datetimeFigureOut">
              <a:rPr kumimoji="1" lang="ja-JP" altLang="en-US" smtClean="0"/>
              <a:t>2026/10/23</a:t>
            </a:fld>
            <a:endParaRPr kumimoji="1" lang="ja-JP" altLang="en-US"/>
          </a:p>
        </p:txBody>
      </p:sp>
      <p:sp>
        <p:nvSpPr>
          <p:cNvPr id="5" name="フッター プレースホルダー 4">
            <a:extLst>
              <a:ext uri="{FF2B5EF4-FFF2-40B4-BE49-F238E27FC236}">
                <a16:creationId xmlns:a16="http://schemas.microsoft.com/office/drawing/2014/main" id="{12BAB178-23CC-2033-B697-FD95D5D5CEE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A8DB21A-C1F0-F54C-294E-2828405C202F}"/>
              </a:ext>
            </a:extLst>
          </p:cNvPr>
          <p:cNvSpPr>
            <a:spLocks noGrp="1"/>
          </p:cNvSpPr>
          <p:nvPr>
            <p:ph type="sldNum" sz="quarter" idx="12"/>
          </p:nvPr>
        </p:nvSpPr>
        <p:spPr/>
        <p:txBody>
          <a:bodyPr/>
          <a:lstStyle/>
          <a:p>
            <a:fld id="{0DF62776-8DAD-4202-A31E-2F633A6AA0DF}" type="slidenum">
              <a:rPr kumimoji="1" lang="ja-JP" altLang="en-US" smtClean="0"/>
              <a:t>‹#›</a:t>
            </a:fld>
            <a:endParaRPr kumimoji="1" lang="ja-JP" altLang="en-US"/>
          </a:p>
        </p:txBody>
      </p:sp>
    </p:spTree>
    <p:extLst>
      <p:ext uri="{BB962C8B-B14F-4D97-AF65-F5344CB8AC3E}">
        <p14:creationId xmlns:p14="http://schemas.microsoft.com/office/powerpoint/2010/main" val="3193324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07C80C9-7A48-7B78-4BDF-0F56AE821D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69FAEA-23EC-3F9C-D49A-DDDCC79C0E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40F1E7-1F75-DE7E-B184-5167FBB569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4C865E-EDE2-4540-B0ED-6FA7725ABCC7}" type="datetimeFigureOut">
              <a:rPr kumimoji="1" lang="ja-JP" altLang="en-US" smtClean="0"/>
              <a:t>2026/10/23</a:t>
            </a:fld>
            <a:endParaRPr kumimoji="1" lang="ja-JP" altLang="en-US"/>
          </a:p>
        </p:txBody>
      </p:sp>
      <p:sp>
        <p:nvSpPr>
          <p:cNvPr id="5" name="フッター プレースホルダー 4">
            <a:extLst>
              <a:ext uri="{FF2B5EF4-FFF2-40B4-BE49-F238E27FC236}">
                <a16:creationId xmlns:a16="http://schemas.microsoft.com/office/drawing/2014/main" id="{880980CB-A894-32AE-D165-AA356C1BC5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05A2819-6F45-E6E6-966E-75DF8EA3A0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F62776-8DAD-4202-A31E-2F633A6AA0DF}" type="slidenum">
              <a:rPr kumimoji="1" lang="ja-JP" altLang="en-US" smtClean="0"/>
              <a:t>‹#›</a:t>
            </a:fld>
            <a:endParaRPr kumimoji="1" lang="ja-JP" altLang="en-US"/>
          </a:p>
        </p:txBody>
      </p:sp>
    </p:spTree>
    <p:extLst>
      <p:ext uri="{BB962C8B-B14F-4D97-AF65-F5344CB8AC3E}">
        <p14:creationId xmlns:p14="http://schemas.microsoft.com/office/powerpoint/2010/main" val="1063163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B8CABE-D7CE-B59A-F1DC-AD1CD605CF6F}"/>
              </a:ext>
            </a:extLst>
          </p:cNvPr>
          <p:cNvSpPr>
            <a:spLocks noGrp="1"/>
          </p:cNvSpPr>
          <p:nvPr>
            <p:ph type="ctrTitle"/>
          </p:nvPr>
        </p:nvSpPr>
        <p:spPr/>
        <p:txBody>
          <a:bodyPr>
            <a:normAutofit fontScale="90000"/>
          </a:bodyPr>
          <a:lstStyle/>
          <a:p>
            <a:r>
              <a:rPr lang="ja-JP" altLang="ja-JP" dirty="0"/>
              <a:t>引力ノート</a:t>
            </a:r>
            <a:br>
              <a:rPr lang="en-US" altLang="ja-JP" dirty="0"/>
            </a:br>
            <a:r>
              <a:rPr lang="ja-JP" altLang="ja-JP" dirty="0"/>
              <a:t>AIを活用した関連メモ推薦</a:t>
            </a:r>
            <a:br>
              <a:rPr lang="en-US" altLang="ja-JP" dirty="0"/>
            </a:br>
            <a:r>
              <a:rPr lang="ja-JP" altLang="ja-JP" dirty="0"/>
              <a:t>システム</a:t>
            </a:r>
            <a:endParaRPr kumimoji="1" lang="ja-JP" altLang="en-US" dirty="0"/>
          </a:p>
        </p:txBody>
      </p:sp>
      <p:sp>
        <p:nvSpPr>
          <p:cNvPr id="3" name="字幕 2">
            <a:extLst>
              <a:ext uri="{FF2B5EF4-FFF2-40B4-BE49-F238E27FC236}">
                <a16:creationId xmlns:a16="http://schemas.microsoft.com/office/drawing/2014/main" id="{0B15DC6A-1B76-B1A7-7471-E9038ABEB523}"/>
              </a:ext>
            </a:extLst>
          </p:cNvPr>
          <p:cNvSpPr>
            <a:spLocks noGrp="1"/>
          </p:cNvSpPr>
          <p:nvPr>
            <p:ph type="subTitle" idx="1"/>
          </p:nvPr>
        </p:nvSpPr>
        <p:spPr>
          <a:xfrm>
            <a:off x="1524000" y="3602038"/>
            <a:ext cx="9144000" cy="3139956"/>
          </a:xfrm>
        </p:spPr>
        <p:txBody>
          <a:bodyPr>
            <a:normAutofit/>
          </a:bodyPr>
          <a:lstStyle/>
          <a:p>
            <a:pPr>
              <a:lnSpc>
                <a:spcPct val="200000"/>
              </a:lnSpc>
            </a:pPr>
            <a:r>
              <a:rPr lang="ja-JP" altLang="en-US" dirty="0"/>
              <a:t>東京情報大学　総合情報学部　総合情報学科　</a:t>
            </a:r>
            <a:endParaRPr lang="en-US" altLang="ja-JP" dirty="0"/>
          </a:p>
          <a:p>
            <a:pPr>
              <a:lnSpc>
                <a:spcPct val="200000"/>
              </a:lnSpc>
            </a:pPr>
            <a:r>
              <a:rPr lang="ja-JP" altLang="en-US" dirty="0"/>
              <a:t>マッキンゼミ　４年</a:t>
            </a:r>
            <a:endParaRPr lang="en-US" altLang="ja-JP" dirty="0"/>
          </a:p>
          <a:p>
            <a:pPr>
              <a:lnSpc>
                <a:spcPct val="200000"/>
              </a:lnSpc>
            </a:pPr>
            <a:r>
              <a:rPr lang="en-US" altLang="ja-JP" dirty="0"/>
              <a:t>J23117</a:t>
            </a:r>
            <a:r>
              <a:rPr lang="ja-JP" altLang="en-US" dirty="0"/>
              <a:t>　亀田颯人</a:t>
            </a:r>
          </a:p>
          <a:p>
            <a:endParaRPr kumimoji="1" lang="ja-JP" altLang="en-US" dirty="0"/>
          </a:p>
        </p:txBody>
      </p:sp>
    </p:spTree>
    <p:extLst>
      <p:ext uri="{BB962C8B-B14F-4D97-AF65-F5344CB8AC3E}">
        <p14:creationId xmlns:p14="http://schemas.microsoft.com/office/powerpoint/2010/main" val="757298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BC4D87-C0AB-5CF6-8E0F-833F8F067ECB}"/>
              </a:ext>
            </a:extLst>
          </p:cNvPr>
          <p:cNvSpPr>
            <a:spLocks noGrp="1"/>
          </p:cNvSpPr>
          <p:nvPr>
            <p:ph type="title"/>
          </p:nvPr>
        </p:nvSpPr>
        <p:spPr/>
        <p:txBody>
          <a:bodyPr/>
          <a:lstStyle/>
          <a:p>
            <a:r>
              <a:rPr kumimoji="1" lang="ja-JP" altLang="en-US" dirty="0"/>
              <a:t>背景</a:t>
            </a:r>
          </a:p>
        </p:txBody>
      </p:sp>
      <p:sp>
        <p:nvSpPr>
          <p:cNvPr id="3" name="コンテンツ プレースホルダー 2">
            <a:extLst>
              <a:ext uri="{FF2B5EF4-FFF2-40B4-BE49-F238E27FC236}">
                <a16:creationId xmlns:a16="http://schemas.microsoft.com/office/drawing/2014/main" id="{613B7809-DF94-86AD-FB67-E29E13A1E32C}"/>
              </a:ext>
            </a:extLst>
          </p:cNvPr>
          <p:cNvSpPr>
            <a:spLocks noGrp="1"/>
          </p:cNvSpPr>
          <p:nvPr>
            <p:ph idx="1"/>
          </p:nvPr>
        </p:nvSpPr>
        <p:spPr>
          <a:xfrm>
            <a:off x="838200" y="1825624"/>
            <a:ext cx="11021704" cy="5032375"/>
          </a:xfrm>
        </p:spPr>
        <p:txBody>
          <a:bodyPr/>
          <a:lstStyle/>
          <a:p>
            <a:pPr>
              <a:lnSpc>
                <a:spcPct val="200000"/>
              </a:lnSpc>
            </a:pPr>
            <a:r>
              <a:rPr lang="ja-JP" altLang="ja-JP" dirty="0"/>
              <a:t>スマートフォンやクラウドサービスの普及により、個人が膨大なテキストデータを容易に記録・蓄積できる環境が</a:t>
            </a:r>
            <a:r>
              <a:rPr lang="ja-JP" altLang="en-US" dirty="0"/>
              <a:t>ある</a:t>
            </a:r>
            <a:endParaRPr lang="en-US" altLang="ja-JP" dirty="0"/>
          </a:p>
          <a:p>
            <a:pPr>
              <a:lnSpc>
                <a:spcPct val="200000"/>
              </a:lnSpc>
            </a:pPr>
            <a:r>
              <a:rPr lang="ja-JP" altLang="en-US" dirty="0"/>
              <a:t>現在のメモアプリはキーワード検索、タグ付け、フォルダ分類の３つの手法が用いられている</a:t>
            </a:r>
            <a:endParaRPr lang="en-US" altLang="ja-JP" dirty="0"/>
          </a:p>
          <a:p>
            <a:endParaRPr kumimoji="1" lang="ja-JP" altLang="en-US" dirty="0"/>
          </a:p>
        </p:txBody>
      </p:sp>
    </p:spTree>
    <p:extLst>
      <p:ext uri="{BB962C8B-B14F-4D97-AF65-F5344CB8AC3E}">
        <p14:creationId xmlns:p14="http://schemas.microsoft.com/office/powerpoint/2010/main" val="4063304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46C2DC-A64B-E1D5-D7CD-49482ECE9F4C}"/>
              </a:ext>
            </a:extLst>
          </p:cNvPr>
          <p:cNvSpPr>
            <a:spLocks noGrp="1"/>
          </p:cNvSpPr>
          <p:nvPr>
            <p:ph type="title"/>
          </p:nvPr>
        </p:nvSpPr>
        <p:spPr/>
        <p:txBody>
          <a:bodyPr/>
          <a:lstStyle/>
          <a:p>
            <a:r>
              <a:rPr kumimoji="1" lang="ja-JP" altLang="en-US" dirty="0"/>
              <a:t>目的：</a:t>
            </a:r>
            <a:r>
              <a:rPr lang="ja-JP" altLang="ja-JP" dirty="0"/>
              <a:t>過去のアイデアを無意識に再利用できる</a:t>
            </a:r>
            <a:r>
              <a:rPr lang="ja-JP" altLang="en-US" dirty="0"/>
              <a:t>ようにしたい</a:t>
            </a:r>
            <a:endParaRPr kumimoji="1" lang="ja-JP" altLang="en-US" dirty="0"/>
          </a:p>
        </p:txBody>
      </p:sp>
      <p:sp>
        <p:nvSpPr>
          <p:cNvPr id="3" name="コンテンツ プレースホルダー 2">
            <a:extLst>
              <a:ext uri="{FF2B5EF4-FFF2-40B4-BE49-F238E27FC236}">
                <a16:creationId xmlns:a16="http://schemas.microsoft.com/office/drawing/2014/main" id="{49E55209-BF3D-BC66-CC07-0FA287FBF24A}"/>
              </a:ext>
            </a:extLst>
          </p:cNvPr>
          <p:cNvSpPr>
            <a:spLocks noGrp="1"/>
          </p:cNvSpPr>
          <p:nvPr>
            <p:ph idx="1"/>
          </p:nvPr>
        </p:nvSpPr>
        <p:spPr>
          <a:xfrm>
            <a:off x="838200" y="1825624"/>
            <a:ext cx="10760242" cy="5032375"/>
          </a:xfrm>
        </p:spPr>
        <p:txBody>
          <a:bodyPr>
            <a:normAutofit fontScale="92500"/>
          </a:bodyPr>
          <a:lstStyle/>
          <a:p>
            <a:pPr>
              <a:lnSpc>
                <a:spcPct val="200000"/>
              </a:lnSpc>
            </a:pPr>
            <a:r>
              <a:rPr lang="ja-JP" altLang="ja-JP" dirty="0"/>
              <a:t>過去のメモを「自動で呼び出し」、アイデアの再利用を促す</a:t>
            </a:r>
          </a:p>
          <a:p>
            <a:pPr>
              <a:lnSpc>
                <a:spcPct val="200000"/>
              </a:lnSpc>
            </a:pPr>
            <a:r>
              <a:rPr lang="ja-JP" altLang="ja-JP" dirty="0"/>
              <a:t>ユーザーを手動の分類・タグ付け作業から解放し、「記録すること」に集中させる</a:t>
            </a:r>
          </a:p>
          <a:p>
            <a:pPr>
              <a:lnSpc>
                <a:spcPct val="200000"/>
              </a:lnSpc>
            </a:pPr>
            <a:r>
              <a:rPr lang="ja-JP" altLang="ja-JP" dirty="0"/>
              <a:t>メモ同士の関係性を直感的に理解できるようにする</a:t>
            </a:r>
            <a:endParaRPr lang="en-US" altLang="ja-JP" dirty="0"/>
          </a:p>
          <a:p>
            <a:pPr marL="0" lvl="0" indent="0">
              <a:lnSpc>
                <a:spcPct val="200000"/>
              </a:lnSpc>
              <a:buNone/>
            </a:pPr>
            <a:r>
              <a:rPr lang="ja-JP" altLang="ja-JP" dirty="0"/>
              <a:t> ⇒ 過去の記憶が自然に結びつく、新しい思考支援システムを作りたい</a:t>
            </a:r>
          </a:p>
        </p:txBody>
      </p:sp>
    </p:spTree>
    <p:extLst>
      <p:ext uri="{BB962C8B-B14F-4D97-AF65-F5344CB8AC3E}">
        <p14:creationId xmlns:p14="http://schemas.microsoft.com/office/powerpoint/2010/main" val="4026308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896E25-6218-E2D0-256F-DBC573A139AA}"/>
              </a:ext>
            </a:extLst>
          </p:cNvPr>
          <p:cNvSpPr>
            <a:spLocks noGrp="1"/>
          </p:cNvSpPr>
          <p:nvPr>
            <p:ph type="title"/>
          </p:nvPr>
        </p:nvSpPr>
        <p:spPr/>
        <p:txBody>
          <a:bodyPr/>
          <a:lstStyle/>
          <a:p>
            <a:r>
              <a:rPr kumimoji="1" lang="ja-JP" altLang="en-US" dirty="0"/>
              <a:t>問題：</a:t>
            </a:r>
            <a:r>
              <a:rPr lang="ja-JP" altLang="ja-JP" dirty="0"/>
              <a:t>従来の管理方法では過去のアイデアが埋もれる</a:t>
            </a:r>
            <a:endParaRPr kumimoji="1" lang="ja-JP" altLang="en-US" dirty="0"/>
          </a:p>
        </p:txBody>
      </p:sp>
      <p:sp>
        <p:nvSpPr>
          <p:cNvPr id="3" name="コンテンツ プレースホルダー 2">
            <a:extLst>
              <a:ext uri="{FF2B5EF4-FFF2-40B4-BE49-F238E27FC236}">
                <a16:creationId xmlns:a16="http://schemas.microsoft.com/office/drawing/2014/main" id="{56ED65E7-C5BB-6748-21F6-C9C013A1AA0A}"/>
              </a:ext>
            </a:extLst>
          </p:cNvPr>
          <p:cNvSpPr>
            <a:spLocks noGrp="1"/>
          </p:cNvSpPr>
          <p:nvPr>
            <p:ph idx="1"/>
          </p:nvPr>
        </p:nvSpPr>
        <p:spPr>
          <a:xfrm>
            <a:off x="838200" y="1825624"/>
            <a:ext cx="11016916" cy="5032375"/>
          </a:xfrm>
        </p:spPr>
        <p:txBody>
          <a:bodyPr>
            <a:normAutofit fontScale="92500"/>
          </a:bodyPr>
          <a:lstStyle/>
          <a:p>
            <a:pPr>
              <a:lnSpc>
                <a:spcPct val="200000"/>
              </a:lnSpc>
            </a:pPr>
            <a:r>
              <a:rPr lang="ja-JP" altLang="ja-JP" dirty="0"/>
              <a:t>蓄積されるデータ量が増えると、既存の手法では限界が生じる</a:t>
            </a:r>
          </a:p>
          <a:p>
            <a:pPr lvl="1">
              <a:lnSpc>
                <a:spcPct val="200000"/>
              </a:lnSpc>
            </a:pPr>
            <a:r>
              <a:rPr lang="ja-JP" altLang="ja-JP" dirty="0"/>
              <a:t>キーワード検索：表記ゆれや言い回しが違うとヒットしない</a:t>
            </a:r>
          </a:p>
          <a:p>
            <a:pPr lvl="1">
              <a:lnSpc>
                <a:spcPct val="200000"/>
              </a:lnSpc>
            </a:pPr>
            <a:r>
              <a:rPr lang="ja-JP" altLang="ja-JP" dirty="0"/>
              <a:t>タグ・フォルダ分類：手作業が負担になり、情報がその枠内に孤立してしまう</a:t>
            </a:r>
          </a:p>
          <a:p>
            <a:pPr>
              <a:lnSpc>
                <a:spcPct val="200000"/>
              </a:lnSpc>
            </a:pPr>
            <a:r>
              <a:rPr lang="ja-JP" altLang="ja-JP" dirty="0"/>
              <a:t>問題の原因として、文字の「完全一致」や「場所」に頼っており、言葉の意味や文脈を理解して情報を繋ぎ合わせる仕組みがないのではないか</a:t>
            </a:r>
          </a:p>
        </p:txBody>
      </p:sp>
    </p:spTree>
    <p:extLst>
      <p:ext uri="{BB962C8B-B14F-4D97-AF65-F5344CB8AC3E}">
        <p14:creationId xmlns:p14="http://schemas.microsoft.com/office/powerpoint/2010/main" val="3079733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85BBB4-5E3D-C3EC-3C64-8DAFE92CE8F8}"/>
              </a:ext>
            </a:extLst>
          </p:cNvPr>
          <p:cNvSpPr>
            <a:spLocks noGrp="1"/>
          </p:cNvSpPr>
          <p:nvPr>
            <p:ph type="title"/>
          </p:nvPr>
        </p:nvSpPr>
        <p:spPr/>
        <p:txBody>
          <a:bodyPr/>
          <a:lstStyle/>
          <a:p>
            <a:r>
              <a:rPr kumimoji="1" lang="ja-JP" altLang="en-US" dirty="0"/>
              <a:t>提案：</a:t>
            </a:r>
            <a:r>
              <a:rPr lang="ja-JP" altLang="ja-JP" dirty="0"/>
              <a:t> AIを用いた引力ノート</a:t>
            </a:r>
            <a:endParaRPr kumimoji="1" lang="ja-JP" altLang="en-US" dirty="0"/>
          </a:p>
        </p:txBody>
      </p:sp>
      <p:sp>
        <p:nvSpPr>
          <p:cNvPr id="3" name="コンテンツ プレースホルダー 2">
            <a:extLst>
              <a:ext uri="{FF2B5EF4-FFF2-40B4-BE49-F238E27FC236}">
                <a16:creationId xmlns:a16="http://schemas.microsoft.com/office/drawing/2014/main" id="{4060D886-B4F8-4030-99EF-9344B3591EEA}"/>
              </a:ext>
            </a:extLst>
          </p:cNvPr>
          <p:cNvSpPr>
            <a:spLocks noGrp="1"/>
          </p:cNvSpPr>
          <p:nvPr>
            <p:ph idx="1"/>
          </p:nvPr>
        </p:nvSpPr>
        <p:spPr>
          <a:xfrm>
            <a:off x="838200" y="1825624"/>
            <a:ext cx="11062648" cy="5032375"/>
          </a:xfrm>
        </p:spPr>
        <p:txBody>
          <a:bodyPr>
            <a:normAutofit/>
          </a:bodyPr>
          <a:lstStyle/>
          <a:p>
            <a:pPr lvl="0">
              <a:lnSpc>
                <a:spcPct val="200000"/>
              </a:lnSpc>
            </a:pPr>
            <a:r>
              <a:rPr lang="ja-JP" altLang="ja-JP" dirty="0"/>
              <a:t>Gemini APIのベクトル埋め込みを用いて意味と時間軸でメモを</a:t>
            </a:r>
            <a:r>
              <a:rPr lang="ja-JP" altLang="en-US" dirty="0"/>
              <a:t>　</a:t>
            </a:r>
            <a:r>
              <a:rPr lang="ja-JP" altLang="ja-JP" dirty="0"/>
              <a:t>自動的に繋ぐシステム</a:t>
            </a:r>
            <a:endParaRPr lang="en-US" altLang="ja-JP" dirty="0"/>
          </a:p>
          <a:p>
            <a:pPr lvl="0">
              <a:lnSpc>
                <a:spcPct val="200000"/>
              </a:lnSpc>
            </a:pPr>
            <a:r>
              <a:rPr lang="ja-JP" altLang="ja-JP" dirty="0"/>
              <a:t>検索クエリを起点とし、類似度と作成日時から過去のメモへ向かって</a:t>
            </a:r>
            <a:r>
              <a:rPr lang="ja-JP" altLang="en-US" dirty="0"/>
              <a:t>引力グラフを作成する</a:t>
            </a:r>
            <a:endParaRPr lang="en-US" altLang="ja-JP" dirty="0"/>
          </a:p>
        </p:txBody>
      </p:sp>
    </p:spTree>
    <p:extLst>
      <p:ext uri="{BB962C8B-B14F-4D97-AF65-F5344CB8AC3E}">
        <p14:creationId xmlns:p14="http://schemas.microsoft.com/office/powerpoint/2010/main" val="663544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A4E0B0-0533-2CEB-1F05-7B37F847AF94}"/>
              </a:ext>
            </a:extLst>
          </p:cNvPr>
          <p:cNvSpPr>
            <a:spLocks noGrp="1"/>
          </p:cNvSpPr>
          <p:nvPr>
            <p:ph type="title"/>
          </p:nvPr>
        </p:nvSpPr>
        <p:spPr>
          <a:xfrm>
            <a:off x="209266" y="267938"/>
            <a:ext cx="10515600" cy="1325563"/>
          </a:xfrm>
        </p:spPr>
        <p:txBody>
          <a:bodyPr/>
          <a:lstStyle/>
          <a:p>
            <a:r>
              <a:rPr kumimoji="1" lang="ja-JP" altLang="en-US" dirty="0"/>
              <a:t>システム構成図</a:t>
            </a:r>
          </a:p>
        </p:txBody>
      </p:sp>
      <p:sp>
        <p:nvSpPr>
          <p:cNvPr id="6" name="正方形/長方形 5">
            <a:extLst>
              <a:ext uri="{FF2B5EF4-FFF2-40B4-BE49-F238E27FC236}">
                <a16:creationId xmlns:a16="http://schemas.microsoft.com/office/drawing/2014/main" id="{ABDFD710-38E0-32B8-486D-91D65131B420}"/>
              </a:ext>
            </a:extLst>
          </p:cNvPr>
          <p:cNvSpPr/>
          <p:nvPr/>
        </p:nvSpPr>
        <p:spPr>
          <a:xfrm>
            <a:off x="173137" y="1909010"/>
            <a:ext cx="2562726" cy="4839067"/>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ctr"/>
            <a:r>
              <a:rPr kumimoji="1" lang="ja-JP" altLang="en-US" dirty="0"/>
              <a:t>フロントエンド</a:t>
            </a:r>
          </a:p>
        </p:txBody>
      </p:sp>
      <p:sp>
        <p:nvSpPr>
          <p:cNvPr id="7" name="正方形/長方形 6">
            <a:extLst>
              <a:ext uri="{FF2B5EF4-FFF2-40B4-BE49-F238E27FC236}">
                <a16:creationId xmlns:a16="http://schemas.microsoft.com/office/drawing/2014/main" id="{DDDD676D-399F-B6B6-AED6-3E55CCBD890A}"/>
              </a:ext>
            </a:extLst>
          </p:cNvPr>
          <p:cNvSpPr/>
          <p:nvPr/>
        </p:nvSpPr>
        <p:spPr>
          <a:xfrm>
            <a:off x="427343" y="2466688"/>
            <a:ext cx="2042695" cy="39659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HTML</a:t>
            </a:r>
          </a:p>
          <a:p>
            <a:pPr algn="ctr"/>
            <a:r>
              <a:rPr lang="en-US" altLang="ja-JP" dirty="0"/>
              <a:t>CSS</a:t>
            </a:r>
          </a:p>
          <a:p>
            <a:pPr algn="ctr"/>
            <a:r>
              <a:rPr kumimoji="1" lang="en-US" altLang="ja-JP" dirty="0"/>
              <a:t>Vis-networ</a:t>
            </a:r>
            <a:r>
              <a:rPr lang="en-US" altLang="ja-JP" dirty="0"/>
              <a:t>k</a:t>
            </a:r>
          </a:p>
        </p:txBody>
      </p:sp>
      <p:sp>
        <p:nvSpPr>
          <p:cNvPr id="9" name="正方形/長方形 8">
            <a:extLst>
              <a:ext uri="{FF2B5EF4-FFF2-40B4-BE49-F238E27FC236}">
                <a16:creationId xmlns:a16="http://schemas.microsoft.com/office/drawing/2014/main" id="{9619F273-1AB2-94D4-8790-7101E5E5FCC2}"/>
              </a:ext>
            </a:extLst>
          </p:cNvPr>
          <p:cNvSpPr/>
          <p:nvPr/>
        </p:nvSpPr>
        <p:spPr>
          <a:xfrm>
            <a:off x="4182558" y="1909009"/>
            <a:ext cx="2562726" cy="4839068"/>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ctr"/>
            <a:r>
              <a:rPr lang="ja-JP" altLang="en-US" dirty="0"/>
              <a:t>バック</a:t>
            </a:r>
            <a:r>
              <a:rPr kumimoji="1" lang="ja-JP" altLang="en-US" dirty="0"/>
              <a:t>エンド</a:t>
            </a:r>
          </a:p>
        </p:txBody>
      </p:sp>
      <p:sp>
        <p:nvSpPr>
          <p:cNvPr id="13" name="正方形/長方形 12">
            <a:extLst>
              <a:ext uri="{FF2B5EF4-FFF2-40B4-BE49-F238E27FC236}">
                <a16:creationId xmlns:a16="http://schemas.microsoft.com/office/drawing/2014/main" id="{B29D0CF5-0CED-D583-B9A5-BC0604084353}"/>
              </a:ext>
            </a:extLst>
          </p:cNvPr>
          <p:cNvSpPr/>
          <p:nvPr/>
        </p:nvSpPr>
        <p:spPr>
          <a:xfrm>
            <a:off x="8530728" y="1449643"/>
            <a:ext cx="3288532" cy="2584118"/>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ctr"/>
            <a:r>
              <a:rPr kumimoji="1" lang="ja-JP" altLang="en-US" dirty="0"/>
              <a:t>クラウドサービス</a:t>
            </a:r>
          </a:p>
        </p:txBody>
      </p:sp>
      <p:sp>
        <p:nvSpPr>
          <p:cNvPr id="19" name="正方形/長方形 18">
            <a:extLst>
              <a:ext uri="{FF2B5EF4-FFF2-40B4-BE49-F238E27FC236}">
                <a16:creationId xmlns:a16="http://schemas.microsoft.com/office/drawing/2014/main" id="{427DF2D2-D6B2-08F9-2474-FD92D7D884A3}"/>
              </a:ext>
            </a:extLst>
          </p:cNvPr>
          <p:cNvSpPr/>
          <p:nvPr/>
        </p:nvSpPr>
        <p:spPr>
          <a:xfrm>
            <a:off x="4442573" y="2466688"/>
            <a:ext cx="2042695" cy="39659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err="1"/>
              <a:t>FastAPI</a:t>
            </a:r>
            <a:endParaRPr lang="en-US" altLang="ja-JP" dirty="0"/>
          </a:p>
          <a:p>
            <a:pPr algn="ctr"/>
            <a:r>
              <a:rPr kumimoji="1" lang="ja-JP" altLang="en-US" dirty="0"/>
              <a:t>類似度計算</a:t>
            </a:r>
            <a:endParaRPr kumimoji="1" lang="en-US" altLang="ja-JP" dirty="0"/>
          </a:p>
          <a:p>
            <a:pPr algn="ctr"/>
            <a:r>
              <a:rPr lang="ja-JP" altLang="en-US" dirty="0"/>
              <a:t>グラフ探索</a:t>
            </a:r>
            <a:endParaRPr lang="en-US" altLang="ja-JP" dirty="0"/>
          </a:p>
          <a:p>
            <a:pPr algn="ctr"/>
            <a:r>
              <a:rPr kumimoji="1" lang="ja-JP" altLang="en-US" dirty="0"/>
              <a:t>思考系統の統合</a:t>
            </a:r>
            <a:endParaRPr kumimoji="1" lang="en-US" altLang="ja-JP" dirty="0"/>
          </a:p>
          <a:p>
            <a:pPr algn="ctr"/>
            <a:r>
              <a:rPr lang="ja-JP" altLang="en-US" dirty="0"/>
              <a:t>時間スコア</a:t>
            </a:r>
            <a:endParaRPr lang="en-US" altLang="ja-JP" dirty="0"/>
          </a:p>
        </p:txBody>
      </p:sp>
      <p:sp>
        <p:nvSpPr>
          <p:cNvPr id="23" name="正方形/長方形 22">
            <a:extLst>
              <a:ext uri="{FF2B5EF4-FFF2-40B4-BE49-F238E27FC236}">
                <a16:creationId xmlns:a16="http://schemas.microsoft.com/office/drawing/2014/main" id="{F9EBD3FF-CB84-E483-BFDB-37C7728ECED5}"/>
              </a:ext>
            </a:extLst>
          </p:cNvPr>
          <p:cNvSpPr/>
          <p:nvPr/>
        </p:nvSpPr>
        <p:spPr>
          <a:xfrm>
            <a:off x="8805160" y="1975028"/>
            <a:ext cx="2739667" cy="17690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altLang="ja-JP" dirty="0" err="1"/>
              <a:t>GeminiAPI</a:t>
            </a:r>
            <a:endParaRPr lang="en-US" altLang="ja-JP" dirty="0"/>
          </a:p>
          <a:p>
            <a:r>
              <a:rPr lang="ja-JP" altLang="en-US" dirty="0"/>
              <a:t>・</a:t>
            </a:r>
            <a:r>
              <a:rPr lang="en-US" altLang="ja-JP" dirty="0"/>
              <a:t>Gemini-Embedding-2</a:t>
            </a:r>
          </a:p>
          <a:p>
            <a:r>
              <a:rPr lang="ja-JP" altLang="en-US" dirty="0"/>
              <a:t>・</a:t>
            </a:r>
            <a:r>
              <a:rPr lang="en-US" altLang="ja-JP" dirty="0"/>
              <a:t>Gemini-3.8-flash</a:t>
            </a:r>
          </a:p>
        </p:txBody>
      </p:sp>
      <p:sp>
        <p:nvSpPr>
          <p:cNvPr id="5" name="円柱 4">
            <a:extLst>
              <a:ext uri="{FF2B5EF4-FFF2-40B4-BE49-F238E27FC236}">
                <a16:creationId xmlns:a16="http://schemas.microsoft.com/office/drawing/2014/main" id="{0D6196AD-3974-F571-766F-2FC3A0F18859}"/>
              </a:ext>
            </a:extLst>
          </p:cNvPr>
          <p:cNvSpPr/>
          <p:nvPr/>
        </p:nvSpPr>
        <p:spPr>
          <a:xfrm>
            <a:off x="8492528" y="4220006"/>
            <a:ext cx="3551513" cy="2528071"/>
          </a:xfrm>
          <a:prstGeom prst="can">
            <a:avLst/>
          </a:prstGeom>
        </p:spPr>
        <p:style>
          <a:lnRef idx="2">
            <a:schemeClr val="dk1"/>
          </a:lnRef>
          <a:fillRef idx="1">
            <a:schemeClr val="lt1"/>
          </a:fillRef>
          <a:effectRef idx="0">
            <a:schemeClr val="dk1"/>
          </a:effectRef>
          <a:fontRef idx="minor">
            <a:schemeClr val="dk1"/>
          </a:fontRef>
        </p:style>
        <p:txBody>
          <a:bodyPr rtlCol="0" anchor="t" anchorCtr="0"/>
          <a:lstStyle/>
          <a:p>
            <a:pPr algn="ctr"/>
            <a:r>
              <a:rPr kumimoji="1" lang="ja-JP" altLang="en-US" dirty="0"/>
              <a:t>データストア</a:t>
            </a:r>
          </a:p>
        </p:txBody>
      </p:sp>
      <p:sp>
        <p:nvSpPr>
          <p:cNvPr id="4" name="正方形/長方形 3">
            <a:extLst>
              <a:ext uri="{FF2B5EF4-FFF2-40B4-BE49-F238E27FC236}">
                <a16:creationId xmlns:a16="http://schemas.microsoft.com/office/drawing/2014/main" id="{4977CB39-6132-A87A-51A9-21B07A9CBF96}"/>
              </a:ext>
            </a:extLst>
          </p:cNvPr>
          <p:cNvSpPr/>
          <p:nvPr/>
        </p:nvSpPr>
        <p:spPr>
          <a:xfrm>
            <a:off x="9060051" y="5299376"/>
            <a:ext cx="2438590" cy="12969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JSON</a:t>
            </a:r>
          </a:p>
        </p:txBody>
      </p:sp>
      <p:cxnSp>
        <p:nvCxnSpPr>
          <p:cNvPr id="8" name="直線矢印コネクタ 7">
            <a:extLst>
              <a:ext uri="{FF2B5EF4-FFF2-40B4-BE49-F238E27FC236}">
                <a16:creationId xmlns:a16="http://schemas.microsoft.com/office/drawing/2014/main" id="{074C820B-0468-1C41-6763-B011489578FB}"/>
              </a:ext>
            </a:extLst>
          </p:cNvPr>
          <p:cNvCxnSpPr>
            <a:cxnSpLocks/>
          </p:cNvCxnSpPr>
          <p:nvPr/>
        </p:nvCxnSpPr>
        <p:spPr>
          <a:xfrm flipH="1" flipV="1">
            <a:off x="2471421" y="5185889"/>
            <a:ext cx="197391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線矢印コネクタ 15">
            <a:extLst>
              <a:ext uri="{FF2B5EF4-FFF2-40B4-BE49-F238E27FC236}">
                <a16:creationId xmlns:a16="http://schemas.microsoft.com/office/drawing/2014/main" id="{FB98683B-6431-D2D1-CE85-8A6753BA7E7F}"/>
              </a:ext>
            </a:extLst>
          </p:cNvPr>
          <p:cNvCxnSpPr>
            <a:cxnSpLocks/>
          </p:cNvCxnSpPr>
          <p:nvPr/>
        </p:nvCxnSpPr>
        <p:spPr>
          <a:xfrm flipV="1">
            <a:off x="2471421" y="3986462"/>
            <a:ext cx="197391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直線矢印コネクタ 31">
            <a:extLst>
              <a:ext uri="{FF2B5EF4-FFF2-40B4-BE49-F238E27FC236}">
                <a16:creationId xmlns:a16="http://schemas.microsoft.com/office/drawing/2014/main" id="{D3FBC21F-4488-0FF8-0D40-C21971CF399B}"/>
              </a:ext>
            </a:extLst>
          </p:cNvPr>
          <p:cNvCxnSpPr>
            <a:cxnSpLocks/>
          </p:cNvCxnSpPr>
          <p:nvPr/>
        </p:nvCxnSpPr>
        <p:spPr>
          <a:xfrm>
            <a:off x="6503027" y="2741702"/>
            <a:ext cx="23021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46AAD3A8-456F-C220-1790-156DF6FBB290}"/>
              </a:ext>
            </a:extLst>
          </p:cNvPr>
          <p:cNvCxnSpPr>
            <a:cxnSpLocks/>
          </p:cNvCxnSpPr>
          <p:nvPr/>
        </p:nvCxnSpPr>
        <p:spPr>
          <a:xfrm flipH="1">
            <a:off x="6488033" y="3044911"/>
            <a:ext cx="231712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線矢印コネクタ 42">
            <a:extLst>
              <a:ext uri="{FF2B5EF4-FFF2-40B4-BE49-F238E27FC236}">
                <a16:creationId xmlns:a16="http://schemas.microsoft.com/office/drawing/2014/main" id="{45003BBC-E38E-C46C-B172-C3975DB052CE}"/>
              </a:ext>
            </a:extLst>
          </p:cNvPr>
          <p:cNvCxnSpPr>
            <a:cxnSpLocks/>
          </p:cNvCxnSpPr>
          <p:nvPr/>
        </p:nvCxnSpPr>
        <p:spPr>
          <a:xfrm flipH="1">
            <a:off x="6488033" y="6061026"/>
            <a:ext cx="25720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直線矢印コネクタ 44">
            <a:extLst>
              <a:ext uri="{FF2B5EF4-FFF2-40B4-BE49-F238E27FC236}">
                <a16:creationId xmlns:a16="http://schemas.microsoft.com/office/drawing/2014/main" id="{1135681A-6713-20EC-8678-B451C5026116}"/>
              </a:ext>
            </a:extLst>
          </p:cNvPr>
          <p:cNvCxnSpPr>
            <a:cxnSpLocks/>
          </p:cNvCxnSpPr>
          <p:nvPr/>
        </p:nvCxnSpPr>
        <p:spPr>
          <a:xfrm>
            <a:off x="6488033" y="5561582"/>
            <a:ext cx="25720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テキスト ボックス 46">
            <a:extLst>
              <a:ext uri="{FF2B5EF4-FFF2-40B4-BE49-F238E27FC236}">
                <a16:creationId xmlns:a16="http://schemas.microsoft.com/office/drawing/2014/main" id="{1CA7DC88-C5E3-71E0-D0C9-BED3EBD6DC53}"/>
              </a:ext>
            </a:extLst>
          </p:cNvPr>
          <p:cNvSpPr txBox="1"/>
          <p:nvPr/>
        </p:nvSpPr>
        <p:spPr>
          <a:xfrm>
            <a:off x="6708690" y="2372370"/>
            <a:ext cx="1783838" cy="369332"/>
          </a:xfrm>
          <a:prstGeom prst="rect">
            <a:avLst/>
          </a:prstGeom>
          <a:noFill/>
        </p:spPr>
        <p:txBody>
          <a:bodyPr wrap="square" rtlCol="0">
            <a:spAutoFit/>
          </a:bodyPr>
          <a:lstStyle/>
          <a:p>
            <a:r>
              <a:rPr kumimoji="1" lang="ja-JP" altLang="en-US" dirty="0"/>
              <a:t>②ベクトル要求</a:t>
            </a:r>
          </a:p>
        </p:txBody>
      </p:sp>
      <p:sp>
        <p:nvSpPr>
          <p:cNvPr id="50" name="テキスト ボックス 49">
            <a:extLst>
              <a:ext uri="{FF2B5EF4-FFF2-40B4-BE49-F238E27FC236}">
                <a16:creationId xmlns:a16="http://schemas.microsoft.com/office/drawing/2014/main" id="{1E038BD5-3EBE-B0F4-9B8A-EBA30526B224}"/>
              </a:ext>
            </a:extLst>
          </p:cNvPr>
          <p:cNvSpPr txBox="1"/>
          <p:nvPr/>
        </p:nvSpPr>
        <p:spPr>
          <a:xfrm>
            <a:off x="2731178" y="5376916"/>
            <a:ext cx="1388231" cy="369332"/>
          </a:xfrm>
          <a:prstGeom prst="rect">
            <a:avLst/>
          </a:prstGeom>
          <a:noFill/>
        </p:spPr>
        <p:txBody>
          <a:bodyPr wrap="square" rtlCol="0">
            <a:spAutoFit/>
          </a:bodyPr>
          <a:lstStyle/>
          <a:p>
            <a:r>
              <a:rPr kumimoji="1" lang="ja-JP" altLang="en-US" dirty="0"/>
              <a:t>⑦検索</a:t>
            </a:r>
            <a:r>
              <a:rPr lang="ja-JP" altLang="en-US" dirty="0"/>
              <a:t>結果</a:t>
            </a:r>
            <a:endParaRPr kumimoji="1" lang="ja-JP" altLang="en-US" dirty="0"/>
          </a:p>
        </p:txBody>
      </p:sp>
      <p:sp>
        <p:nvSpPr>
          <p:cNvPr id="52" name="テキスト ボックス 51">
            <a:extLst>
              <a:ext uri="{FF2B5EF4-FFF2-40B4-BE49-F238E27FC236}">
                <a16:creationId xmlns:a16="http://schemas.microsoft.com/office/drawing/2014/main" id="{ABF0B3F8-B7B5-C8C1-F565-E3791519B11A}"/>
              </a:ext>
            </a:extLst>
          </p:cNvPr>
          <p:cNvSpPr txBox="1"/>
          <p:nvPr/>
        </p:nvSpPr>
        <p:spPr>
          <a:xfrm>
            <a:off x="2705857" y="3513779"/>
            <a:ext cx="1388231" cy="324000"/>
          </a:xfrm>
          <a:prstGeom prst="rect">
            <a:avLst/>
          </a:prstGeom>
          <a:noFill/>
        </p:spPr>
        <p:txBody>
          <a:bodyPr wrap="square" rtlCol="0">
            <a:spAutoFit/>
          </a:bodyPr>
          <a:lstStyle/>
          <a:p>
            <a:r>
              <a:rPr kumimoji="1" lang="ja-JP" altLang="en-US" dirty="0"/>
              <a:t>①検索要求</a:t>
            </a:r>
          </a:p>
        </p:txBody>
      </p:sp>
      <p:sp>
        <p:nvSpPr>
          <p:cNvPr id="56" name="テキスト ボックス 55">
            <a:extLst>
              <a:ext uri="{FF2B5EF4-FFF2-40B4-BE49-F238E27FC236}">
                <a16:creationId xmlns:a16="http://schemas.microsoft.com/office/drawing/2014/main" id="{B44EE8DA-590F-C288-032E-AF8478AAE026}"/>
              </a:ext>
            </a:extLst>
          </p:cNvPr>
          <p:cNvSpPr txBox="1"/>
          <p:nvPr/>
        </p:nvSpPr>
        <p:spPr>
          <a:xfrm>
            <a:off x="6762174" y="3101558"/>
            <a:ext cx="1783838" cy="369332"/>
          </a:xfrm>
          <a:prstGeom prst="rect">
            <a:avLst/>
          </a:prstGeom>
          <a:noFill/>
        </p:spPr>
        <p:txBody>
          <a:bodyPr wrap="square" rtlCol="0">
            <a:spAutoFit/>
          </a:bodyPr>
          <a:lstStyle/>
          <a:p>
            <a:r>
              <a:rPr lang="ja-JP" altLang="en-US" dirty="0"/>
              <a:t>④</a:t>
            </a:r>
            <a:r>
              <a:rPr kumimoji="1" lang="ja-JP" altLang="en-US" dirty="0"/>
              <a:t>ベクトル返却</a:t>
            </a:r>
          </a:p>
        </p:txBody>
      </p:sp>
      <p:sp>
        <p:nvSpPr>
          <p:cNvPr id="66" name="テキスト ボックス 65">
            <a:extLst>
              <a:ext uri="{FF2B5EF4-FFF2-40B4-BE49-F238E27FC236}">
                <a16:creationId xmlns:a16="http://schemas.microsoft.com/office/drawing/2014/main" id="{92A89DED-3F26-CE8B-846A-399F3B83B64C}"/>
              </a:ext>
            </a:extLst>
          </p:cNvPr>
          <p:cNvSpPr txBox="1"/>
          <p:nvPr/>
        </p:nvSpPr>
        <p:spPr>
          <a:xfrm>
            <a:off x="6925221" y="5135604"/>
            <a:ext cx="1509806" cy="369332"/>
          </a:xfrm>
          <a:prstGeom prst="rect">
            <a:avLst/>
          </a:prstGeom>
          <a:noFill/>
        </p:spPr>
        <p:txBody>
          <a:bodyPr wrap="square" rtlCol="0">
            <a:spAutoFit/>
          </a:bodyPr>
          <a:lstStyle/>
          <a:p>
            <a:r>
              <a:rPr kumimoji="1" lang="ja-JP" altLang="en-US" dirty="0"/>
              <a:t>⑤参照要求</a:t>
            </a:r>
          </a:p>
        </p:txBody>
      </p:sp>
      <p:sp>
        <p:nvSpPr>
          <p:cNvPr id="68" name="テキスト ボックス 67">
            <a:extLst>
              <a:ext uri="{FF2B5EF4-FFF2-40B4-BE49-F238E27FC236}">
                <a16:creationId xmlns:a16="http://schemas.microsoft.com/office/drawing/2014/main" id="{DA4CD74C-E2C6-F84E-0C58-397C6AA9370E}"/>
              </a:ext>
            </a:extLst>
          </p:cNvPr>
          <p:cNvSpPr txBox="1"/>
          <p:nvPr/>
        </p:nvSpPr>
        <p:spPr>
          <a:xfrm>
            <a:off x="6933442" y="6220730"/>
            <a:ext cx="1509806" cy="369332"/>
          </a:xfrm>
          <a:prstGeom prst="rect">
            <a:avLst/>
          </a:prstGeom>
          <a:noFill/>
        </p:spPr>
        <p:txBody>
          <a:bodyPr wrap="square" rtlCol="0">
            <a:spAutoFit/>
          </a:bodyPr>
          <a:lstStyle/>
          <a:p>
            <a:r>
              <a:rPr lang="ja-JP" altLang="en-US" dirty="0"/>
              <a:t>⑥</a:t>
            </a:r>
            <a:r>
              <a:rPr kumimoji="1" lang="ja-JP" altLang="en-US" dirty="0"/>
              <a:t>参照返却</a:t>
            </a:r>
          </a:p>
        </p:txBody>
      </p:sp>
    </p:spTree>
    <p:extLst>
      <p:ext uri="{BB962C8B-B14F-4D97-AF65-F5344CB8AC3E}">
        <p14:creationId xmlns:p14="http://schemas.microsoft.com/office/powerpoint/2010/main" val="2900892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1C7553-6CFF-2D09-61BC-5504A66BC8C9}"/>
              </a:ext>
            </a:extLst>
          </p:cNvPr>
          <p:cNvSpPr>
            <a:spLocks noGrp="1"/>
          </p:cNvSpPr>
          <p:nvPr>
            <p:ph type="title"/>
          </p:nvPr>
        </p:nvSpPr>
        <p:spPr/>
        <p:txBody>
          <a:bodyPr/>
          <a:lstStyle/>
          <a:p>
            <a:r>
              <a:rPr lang="ja-JP" altLang="en-US" dirty="0"/>
              <a:t>実験と結果</a:t>
            </a:r>
            <a:endParaRPr kumimoji="1" lang="ja-JP" altLang="en-US" dirty="0"/>
          </a:p>
        </p:txBody>
      </p:sp>
      <p:graphicFrame>
        <p:nvGraphicFramePr>
          <p:cNvPr id="3" name="表 2">
            <a:extLst>
              <a:ext uri="{FF2B5EF4-FFF2-40B4-BE49-F238E27FC236}">
                <a16:creationId xmlns:a16="http://schemas.microsoft.com/office/drawing/2014/main" id="{FFEDCDD4-D424-EA00-E29B-01B4ED2FE3DF}"/>
              </a:ext>
            </a:extLst>
          </p:cNvPr>
          <p:cNvGraphicFramePr>
            <a:graphicFrameLocks noGrp="1"/>
          </p:cNvGraphicFramePr>
          <p:nvPr>
            <p:extLst>
              <p:ext uri="{D42A27DB-BD31-4B8C-83A1-F6EECF244321}">
                <p14:modId xmlns:p14="http://schemas.microsoft.com/office/powerpoint/2010/main" val="8595923"/>
              </p:ext>
            </p:extLst>
          </p:nvPr>
        </p:nvGraphicFramePr>
        <p:xfrm>
          <a:off x="947056" y="1722884"/>
          <a:ext cx="8126413" cy="2255520"/>
        </p:xfrm>
        <a:graphic>
          <a:graphicData uri="http://schemas.openxmlformats.org/drawingml/2006/table">
            <a:tbl>
              <a:tblPr firstRow="1" bandRow="1">
                <a:tableStyleId>{B301B821-A1FF-4177-AEE7-76D212191A09}</a:tableStyleId>
              </a:tblPr>
              <a:tblGrid>
                <a:gridCol w="3405188">
                  <a:extLst>
                    <a:ext uri="{9D8B030D-6E8A-4147-A177-3AD203B41FA5}">
                      <a16:colId xmlns:a16="http://schemas.microsoft.com/office/drawing/2014/main" val="4143247707"/>
                    </a:ext>
                  </a:extLst>
                </a:gridCol>
                <a:gridCol w="1400175">
                  <a:extLst>
                    <a:ext uri="{9D8B030D-6E8A-4147-A177-3AD203B41FA5}">
                      <a16:colId xmlns:a16="http://schemas.microsoft.com/office/drawing/2014/main" val="2030759711"/>
                    </a:ext>
                  </a:extLst>
                </a:gridCol>
                <a:gridCol w="1235075">
                  <a:extLst>
                    <a:ext uri="{9D8B030D-6E8A-4147-A177-3AD203B41FA5}">
                      <a16:colId xmlns:a16="http://schemas.microsoft.com/office/drawing/2014/main" val="972790120"/>
                    </a:ext>
                  </a:extLst>
                </a:gridCol>
                <a:gridCol w="2085975">
                  <a:extLst>
                    <a:ext uri="{9D8B030D-6E8A-4147-A177-3AD203B41FA5}">
                      <a16:colId xmlns:a16="http://schemas.microsoft.com/office/drawing/2014/main" val="1008405607"/>
                    </a:ext>
                  </a:extLst>
                </a:gridCol>
              </a:tblGrid>
              <a:tr h="244158">
                <a:tc>
                  <a:txBody>
                    <a:bodyPr/>
                    <a:lstStyle/>
                    <a:p>
                      <a:pPr marL="0" marR="0" rtl="0">
                        <a:spcAft>
                          <a:spcPts val="2400"/>
                        </a:spcAft>
                        <a:buNone/>
                      </a:pPr>
                      <a:r>
                        <a:rPr lang="ja-JP" b="1" dirty="0">
                          <a:solidFill>
                            <a:schemeClr val="bg1"/>
                          </a:solidFill>
                          <a:effectLst/>
                          <a:latin typeface="Google Sans Text"/>
                        </a:rPr>
                        <a:t>検索手法</a:t>
                      </a:r>
                      <a:endParaRPr lang="ja-JP" dirty="0">
                        <a:solidFill>
                          <a:schemeClr val="bg1"/>
                        </a:solidFill>
                        <a:effectLst/>
                        <a:latin typeface="Google Sans Text"/>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b="1" dirty="0">
                          <a:solidFill>
                            <a:schemeClr val="bg1"/>
                          </a:solidFill>
                          <a:effectLst/>
                          <a:latin typeface="Google Sans Text"/>
                        </a:rPr>
                        <a:t>平均逆順位 </a:t>
                      </a:r>
                      <a:endParaRPr lang="ja-JP" dirty="0">
                        <a:solidFill>
                          <a:schemeClr val="bg1"/>
                        </a:solidFill>
                        <a:effectLst/>
                        <a:latin typeface="Google Sans Text"/>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b="1" dirty="0">
                          <a:solidFill>
                            <a:schemeClr val="bg1"/>
                          </a:solidFill>
                          <a:effectLst/>
                          <a:latin typeface="Google Sans Text"/>
                        </a:rPr>
                        <a:t>1位</a:t>
                      </a:r>
                      <a:r>
                        <a:rPr lang="ja-JP" altLang="en-US" b="1" dirty="0">
                          <a:solidFill>
                            <a:schemeClr val="bg1"/>
                          </a:solidFill>
                          <a:effectLst/>
                          <a:latin typeface="Google Sans Text"/>
                        </a:rPr>
                        <a:t>適合率</a:t>
                      </a:r>
                      <a:endParaRPr lang="ja-JP" dirty="0">
                        <a:solidFill>
                          <a:schemeClr val="bg1"/>
                        </a:solidFill>
                        <a:effectLst/>
                        <a:latin typeface="Google Sans Text"/>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b="1" dirty="0">
                          <a:solidFill>
                            <a:schemeClr val="bg1"/>
                          </a:solidFill>
                          <a:effectLst/>
                          <a:latin typeface="Google Sans Text"/>
                        </a:rPr>
                        <a:t>古い情報の混入率 </a:t>
                      </a:r>
                      <a:endParaRPr lang="ja-JP" dirty="0">
                        <a:solidFill>
                          <a:schemeClr val="bg1"/>
                        </a:solidFill>
                        <a:effectLst/>
                        <a:latin typeface="Google Sans Text"/>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5196807"/>
                  </a:ext>
                </a:extLst>
              </a:tr>
              <a:tr h="370840">
                <a:tc>
                  <a:txBody>
                    <a:bodyPr/>
                    <a:lstStyle/>
                    <a:p>
                      <a:pPr marL="0" marR="0" rtl="0">
                        <a:spcAft>
                          <a:spcPts val="2400"/>
                        </a:spcAft>
                        <a:buNone/>
                      </a:pPr>
                      <a:r>
                        <a:rPr lang="ja-JP">
                          <a:solidFill>
                            <a:srgbClr val="1F1F1F"/>
                          </a:solidFill>
                          <a:effectLst/>
                          <a:latin typeface="Google Sans Text"/>
                        </a:rPr>
                        <a:t>キーワード検索</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0.8215</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0.6649</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0.1426</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1883520"/>
                  </a:ext>
                </a:extLst>
              </a:tr>
              <a:tr h="370840">
                <a:tc>
                  <a:txBody>
                    <a:bodyPr/>
                    <a:lstStyle/>
                    <a:p>
                      <a:pPr marL="0" marR="0" rtl="0">
                        <a:spcAft>
                          <a:spcPts val="2400"/>
                        </a:spcAft>
                        <a:buNone/>
                      </a:pPr>
                      <a:r>
                        <a:rPr lang="ja-JP">
                          <a:solidFill>
                            <a:srgbClr val="1F1F1F"/>
                          </a:solidFill>
                          <a:effectLst/>
                          <a:latin typeface="Google Sans Text"/>
                        </a:rPr>
                        <a:t>セマンティック検索</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0.8555</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0.7234</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0.1426</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1822075"/>
                  </a:ext>
                </a:extLst>
              </a:tr>
              <a:tr h="370840">
                <a:tc>
                  <a:txBody>
                    <a:bodyPr/>
                    <a:lstStyle/>
                    <a:p>
                      <a:pPr marL="0" marR="0" rtl="0">
                        <a:spcAft>
                          <a:spcPts val="2400"/>
                        </a:spcAft>
                        <a:buNone/>
                      </a:pPr>
                      <a:r>
                        <a:rPr lang="ja-JP">
                          <a:solidFill>
                            <a:srgbClr val="1F1F1F"/>
                          </a:solidFill>
                          <a:effectLst/>
                          <a:latin typeface="Google Sans Text"/>
                        </a:rPr>
                        <a:t>グラフベース検索</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0.5709</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0.3245</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0.1106</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552527"/>
                  </a:ext>
                </a:extLst>
              </a:tr>
              <a:tr h="370840">
                <a:tc>
                  <a:txBody>
                    <a:bodyPr/>
                    <a:lstStyle/>
                    <a:p>
                      <a:pPr marL="0" marR="0" rtl="0">
                        <a:spcAft>
                          <a:spcPts val="2400"/>
                        </a:spcAft>
                        <a:buNone/>
                      </a:pPr>
                      <a:r>
                        <a:rPr lang="ja-JP">
                          <a:solidFill>
                            <a:srgbClr val="1F1F1F"/>
                          </a:solidFill>
                          <a:effectLst/>
                          <a:latin typeface="Google Sans Text"/>
                        </a:rPr>
                        <a:t>フルモデル（ペナルティなし）</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0.7339</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0.6011</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0.1053</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185021"/>
                  </a:ext>
                </a:extLst>
              </a:tr>
              <a:tr h="370840">
                <a:tc>
                  <a:txBody>
                    <a:bodyPr/>
                    <a:lstStyle/>
                    <a:p>
                      <a:pPr marL="0" marR="0" rtl="0">
                        <a:spcAft>
                          <a:spcPts val="2400"/>
                        </a:spcAft>
                        <a:buNone/>
                      </a:pPr>
                      <a:r>
                        <a:rPr lang="ja-JP" dirty="0">
                          <a:solidFill>
                            <a:srgbClr val="1F1F1F"/>
                          </a:solidFill>
                          <a:effectLst/>
                          <a:latin typeface="Google Sans Text"/>
                        </a:rPr>
                        <a:t>フルモデル</a:t>
                      </a:r>
                      <a:r>
                        <a:rPr lang="ja-JP" altLang="en-US" dirty="0">
                          <a:solidFill>
                            <a:srgbClr val="1F1F1F"/>
                          </a:solidFill>
                          <a:effectLst/>
                          <a:latin typeface="Google Sans Text"/>
                        </a:rPr>
                        <a:t>　</a:t>
                      </a:r>
                      <a:r>
                        <a:rPr lang="en-US" altLang="ja-JP" dirty="0">
                          <a:solidFill>
                            <a:srgbClr val="1F1F1F"/>
                          </a:solidFill>
                          <a:effectLst/>
                          <a:latin typeface="Google Sans Text"/>
                        </a:rPr>
                        <a:t>(</a:t>
                      </a:r>
                      <a:r>
                        <a:rPr lang="ja-JP" altLang="en-US" dirty="0">
                          <a:solidFill>
                            <a:srgbClr val="1F1F1F"/>
                          </a:solidFill>
                          <a:effectLst/>
                          <a:latin typeface="Google Sans Text"/>
                        </a:rPr>
                        <a:t>ペナルティあり</a:t>
                      </a:r>
                      <a:r>
                        <a:rPr lang="en-US" altLang="ja-JP" dirty="0">
                          <a:solidFill>
                            <a:srgbClr val="1F1F1F"/>
                          </a:solidFill>
                          <a:effectLst/>
                          <a:latin typeface="Google Sans Text"/>
                        </a:rPr>
                        <a:t>)</a:t>
                      </a:r>
                      <a:endParaRPr lang="ja-JP" dirty="0">
                        <a:solidFill>
                          <a:srgbClr val="1F1F1F"/>
                        </a:solidFill>
                        <a:effectLst/>
                        <a:latin typeface="Google Sans Text"/>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dirty="0">
                          <a:solidFill>
                            <a:srgbClr val="1F1F1F"/>
                          </a:solidFill>
                          <a:effectLst/>
                          <a:latin typeface="Google Sans Text"/>
                        </a:rPr>
                        <a:t>0.8165</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a:solidFill>
                            <a:srgbClr val="1F1F1F"/>
                          </a:solidFill>
                          <a:effectLst/>
                          <a:latin typeface="Google Sans Text"/>
                        </a:rPr>
                        <a:t>0.7287</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rtl="0">
                        <a:spcAft>
                          <a:spcPts val="2400"/>
                        </a:spcAft>
                        <a:buNone/>
                      </a:pPr>
                      <a:r>
                        <a:rPr lang="ja-JP" dirty="0">
                          <a:solidFill>
                            <a:srgbClr val="1F1F1F"/>
                          </a:solidFill>
                          <a:effectLst/>
                          <a:latin typeface="Google Sans Text"/>
                        </a:rPr>
                        <a:t>0.0000</a:t>
                      </a: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0588031"/>
                  </a:ext>
                </a:extLst>
              </a:tr>
            </a:tbl>
          </a:graphicData>
        </a:graphic>
      </p:graphicFrame>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4A9A3F7C-FA04-B37C-F021-624CB9EF7217}"/>
                  </a:ext>
                </a:extLst>
              </p:cNvPr>
              <p:cNvSpPr txBox="1"/>
              <p:nvPr/>
            </p:nvSpPr>
            <p:spPr>
              <a:xfrm>
                <a:off x="580956" y="4010600"/>
                <a:ext cx="8950916" cy="644728"/>
              </a:xfrm>
              <a:prstGeom prst="rect">
                <a:avLst/>
              </a:prstGeom>
              <a:noFill/>
            </p:spPr>
            <p:txBody>
              <a:bodyPr wrap="square" rtlCol="0">
                <a:spAutoFit/>
              </a:bodyPr>
              <a:lstStyle/>
              <a:p>
                <a:pPr/>
                <a14:m>
                  <m:oMathPara xmlns:m="http://schemas.openxmlformats.org/officeDocument/2006/math">
                    <m:oMath>
                      <m:r>
                        <m:rPr>
                          <m:nor/>
                        </m:rPr>
                        <a:rPr lang="ja-JP" altLang="en-US" i="0"/>
                        <m:t>古い情報の混入率</m:t>
                      </m:r>
                      <m:r>
                        <a:rPr lang="ja-JP" altLang="en-US">
                          <a:latin typeface="Cambria Math" panose="02040503050406030204" pitchFamily="18" charset="0"/>
                        </a:rPr>
                        <m:t>=</m:t>
                      </m:r>
                      <m:f>
                        <m:fPr>
                          <m:ctrlPr>
                            <a:rPr lang="ja-JP" altLang="en-US">
                              <a:latin typeface="Cambria Math" panose="02040503050406030204" pitchFamily="18" charset="0"/>
                            </a:rPr>
                          </m:ctrlPr>
                        </m:fPr>
                        <m:num>
                          <m:r>
                            <a:rPr lang="ja-JP" altLang="en-US">
                              <a:latin typeface="Cambria Math" panose="02040503050406030204" pitchFamily="18" charset="0"/>
                            </a:rPr>
                            <m:t>1</m:t>
                          </m:r>
                        </m:num>
                        <m:den>
                          <m:r>
                            <m:rPr>
                              <m:nor/>
                            </m:rPr>
                            <a:rPr lang="ja-JP" altLang="en-US" i="0"/>
                            <m:t>上位件数</m:t>
                          </m:r>
                        </m:den>
                      </m:f>
                      <m:r>
                        <a:rPr lang="ja-JP" altLang="en-US">
                          <a:latin typeface="Cambria Math" panose="02040503050406030204" pitchFamily="18" charset="0"/>
                        </a:rPr>
                        <m:t>×</m:t>
                      </m:r>
                      <m:d>
                        <m:dPr>
                          <m:ctrlPr>
                            <a:rPr lang="ja-JP" altLang="en-US" i="0"/>
                          </m:ctrlPr>
                        </m:dPr>
                        <m:e>
                          <m:r>
                            <m:rPr>
                              <m:nor/>
                            </m:rPr>
                            <a:rPr lang="ja-JP" altLang="en-US" i="0"/>
                            <m:t>上位件数の中に含まれる「古いメモ」の個数</m:t>
                          </m:r>
                        </m:e>
                      </m:d>
                    </m:oMath>
                  </m:oMathPara>
                </a14:m>
                <a:endParaRPr lang="ja-JP" altLang="ja-JP" dirty="0"/>
              </a:p>
            </p:txBody>
          </p:sp>
        </mc:Choice>
        <mc:Fallback xmlns="">
          <p:sp>
            <p:nvSpPr>
              <p:cNvPr id="4" name="テキスト ボックス 3">
                <a:extLst>
                  <a:ext uri="{FF2B5EF4-FFF2-40B4-BE49-F238E27FC236}">
                    <a16:creationId xmlns:a16="http://schemas.microsoft.com/office/drawing/2014/main" id="{4A9A3F7C-FA04-B37C-F021-624CB9EF7217}"/>
                  </a:ext>
                </a:extLst>
              </p:cNvPr>
              <p:cNvSpPr txBox="1">
                <a:spLocks noRot="1" noChangeAspect="1" noMove="1" noResize="1" noEditPoints="1" noAdjustHandles="1" noChangeArrowheads="1" noChangeShapeType="1" noTextEdit="1"/>
              </p:cNvSpPr>
              <p:nvPr/>
            </p:nvSpPr>
            <p:spPr>
              <a:xfrm>
                <a:off x="580956" y="4010600"/>
                <a:ext cx="8950916" cy="644728"/>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1895DCF9-CFA9-EEE4-FDD7-05C1AEE59DD2}"/>
                  </a:ext>
                </a:extLst>
              </p:cNvPr>
              <p:cNvSpPr txBox="1"/>
              <p:nvPr/>
            </p:nvSpPr>
            <p:spPr>
              <a:xfrm>
                <a:off x="293914" y="4836495"/>
                <a:ext cx="9960429" cy="930832"/>
              </a:xfrm>
              <a:prstGeom prst="rect">
                <a:avLst/>
              </a:prstGeom>
              <a:noFill/>
            </p:spPr>
            <p:txBody>
              <a:bodyPr wrap="square" rtlCol="0">
                <a:spAutoFit/>
              </a:bodyPr>
              <a:lstStyle/>
              <a:p>
                <a:pPr/>
                <a14:m>
                  <m:oMathPara xmlns:m="http://schemas.openxmlformats.org/officeDocument/2006/math">
                    <m:oMath>
                      <m:r>
                        <m:rPr>
                          <m:nor/>
                        </m:rPr>
                        <a:rPr lang="ja-JP" altLang="en-US" i="0"/>
                        <m:t>フル</m:t>
                      </m:r>
                      <m:r>
                        <a:rPr lang="ja-JP" altLang="en-US" i="1">
                          <a:latin typeface="Cambria Math" panose="02040503050406030204" pitchFamily="18" charset="0"/>
                        </a:rPr>
                        <m:t>モデル</m:t>
                      </m:r>
                      <m:r>
                        <m:rPr>
                          <m:nor/>
                        </m:rPr>
                        <a:rPr lang="ja-JP" altLang="en-US" i="0"/>
                        <m:t>（ペナルティなし）</m:t>
                      </m:r>
                      <m:r>
                        <a:rPr lang="ja-JP" altLang="en-US">
                          <a:latin typeface="Cambria Math" panose="02040503050406030204" pitchFamily="18" charset="0"/>
                        </a:rPr>
                        <m:t>=</m:t>
                      </m:r>
                      <m:d>
                        <m:dPr>
                          <m:ctrlPr>
                            <a:rPr lang="ja-JP" altLang="en-US">
                              <a:latin typeface="Cambria Math" panose="02040503050406030204" pitchFamily="18" charset="0"/>
                            </a:rPr>
                          </m:ctrlPr>
                        </m:dPr>
                        <m:e>
                          <m:r>
                            <a:rPr lang="ja-JP" altLang="en-US">
                              <a:latin typeface="Cambria Math" panose="02040503050406030204" pitchFamily="18" charset="0"/>
                            </a:rPr>
                            <m:t>0.6×</m:t>
                          </m:r>
                          <m:r>
                            <m:rPr>
                              <m:nor/>
                            </m:rPr>
                            <a:rPr lang="ja-JP" altLang="en-US" i="0"/>
                            <m:t>セマンティックのスコア</m:t>
                          </m:r>
                        </m:e>
                      </m:d>
                      <m:r>
                        <a:rPr lang="ja-JP" altLang="en-US">
                          <a:latin typeface="Cambria Math" panose="02040503050406030204" pitchFamily="18" charset="0"/>
                        </a:rPr>
                        <m:t>+</m:t>
                      </m:r>
                      <m:d>
                        <m:dPr>
                          <m:ctrlPr>
                            <a:rPr lang="ja-JP" altLang="en-US">
                              <a:latin typeface="Cambria Math" panose="02040503050406030204" pitchFamily="18" charset="0"/>
                            </a:rPr>
                          </m:ctrlPr>
                        </m:dPr>
                        <m:e>
                          <m:r>
                            <a:rPr lang="ja-JP" altLang="en-US">
                              <a:latin typeface="Cambria Math" panose="02040503050406030204" pitchFamily="18" charset="0"/>
                            </a:rPr>
                            <m:t>0.2×</m:t>
                          </m:r>
                          <m:r>
                            <m:rPr>
                              <m:nor/>
                            </m:rPr>
                            <a:rPr lang="ja-JP" altLang="en-US" i="0"/>
                            <m:t>グラフのスコア</m:t>
                          </m:r>
                        </m:e>
                      </m:d>
                      <m:r>
                        <a:rPr lang="ja-JP" altLang="en-US">
                          <a:latin typeface="Cambria Math" panose="02040503050406030204" pitchFamily="18" charset="0"/>
                        </a:rPr>
                        <m:t>+</m:t>
                      </m:r>
                      <m:d>
                        <m:dPr>
                          <m:ctrlPr>
                            <a:rPr lang="ja-JP" altLang="en-US">
                              <a:latin typeface="Cambria Math" panose="02040503050406030204" pitchFamily="18" charset="0"/>
                            </a:rPr>
                          </m:ctrlPr>
                        </m:dPr>
                        <m:e>
                          <m:r>
                            <a:rPr lang="ja-JP" altLang="en-US">
                              <a:latin typeface="Cambria Math" panose="02040503050406030204" pitchFamily="18" charset="0"/>
                            </a:rPr>
                            <m:t>0.2×</m:t>
                          </m:r>
                          <m:r>
                            <m:rPr>
                              <m:nor/>
                            </m:rPr>
                            <a:rPr lang="ja-JP" altLang="en-US" i="0"/>
                            <m:t>時間のスコア</m:t>
                          </m:r>
                        </m:e>
                      </m:d>
                    </m:oMath>
                  </m:oMathPara>
                </a14:m>
                <a:endParaRPr lang="ja-JP" altLang="ja-JP" dirty="0"/>
              </a:p>
              <a:p>
                <a:endParaRPr kumimoji="1" lang="ja-JP" altLang="en-US" dirty="0"/>
              </a:p>
            </p:txBody>
          </p:sp>
        </mc:Choice>
        <mc:Fallback xmlns="">
          <p:sp>
            <p:nvSpPr>
              <p:cNvPr id="5" name="テキスト ボックス 4">
                <a:extLst>
                  <a:ext uri="{FF2B5EF4-FFF2-40B4-BE49-F238E27FC236}">
                    <a16:creationId xmlns:a16="http://schemas.microsoft.com/office/drawing/2014/main" id="{1895DCF9-CFA9-EEE4-FDD7-05C1AEE59DD2}"/>
                  </a:ext>
                </a:extLst>
              </p:cNvPr>
              <p:cNvSpPr txBox="1">
                <a:spLocks noRot="1" noChangeAspect="1" noMove="1" noResize="1" noEditPoints="1" noAdjustHandles="1" noChangeArrowheads="1" noChangeShapeType="1" noTextEdit="1"/>
              </p:cNvSpPr>
              <p:nvPr/>
            </p:nvSpPr>
            <p:spPr>
              <a:xfrm>
                <a:off x="293914" y="4836495"/>
                <a:ext cx="9960429" cy="93083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724767E0-EB22-23D2-6A8B-70871D5EE423}"/>
                  </a:ext>
                </a:extLst>
              </p:cNvPr>
              <p:cNvSpPr txBox="1"/>
              <p:nvPr/>
            </p:nvSpPr>
            <p:spPr>
              <a:xfrm>
                <a:off x="947056" y="5767327"/>
                <a:ext cx="10036629" cy="923330"/>
              </a:xfrm>
              <a:prstGeom prst="rect">
                <a:avLst/>
              </a:prstGeom>
              <a:noFill/>
            </p:spPr>
            <p:txBody>
              <a:bodyPr wrap="square">
                <a:spAutoFit/>
              </a:bodyPr>
              <a:lstStyle/>
              <a:p>
                <a:r>
                  <a:rPr lang="ja-JP" altLang="en-US" dirty="0">
                    <a:solidFill>
                      <a:srgbClr val="1F1F1F"/>
                    </a:solidFill>
                    <a:latin typeface="Google Sans Text"/>
                  </a:rPr>
                  <a:t>フルモデル（ペナルティあり）</a:t>
                </a:r>
                <a:endParaRPr lang="en-US" altLang="ja-JP" dirty="0">
                  <a:solidFill>
                    <a:srgbClr val="1F1F1F"/>
                  </a:solidFill>
                  <a:latin typeface="Google Sans Text"/>
                </a:endParaRPr>
              </a:p>
              <a:p>
                <a14:m>
                  <m:oMath xmlns:m="http://schemas.openxmlformats.org/officeDocument/2006/math">
                    <m:r>
                      <a:rPr lang="ja-JP" altLang="en-US" i="1" smtClean="0">
                        <a:solidFill>
                          <a:srgbClr val="1F1F1F"/>
                        </a:solidFill>
                        <a:latin typeface="Cambria Math" panose="02040503050406030204" pitchFamily="18" charset="0"/>
                      </a:rPr>
                      <m:t>=</m:t>
                    </m:r>
                    <m:r>
                      <m:rPr>
                        <m:nor/>
                      </m:rPr>
                      <a:rPr lang="ja-JP" altLang="en-US" i="0"/>
                      <m:t>フルスコア（ペナルティなし） </m:t>
                    </m:r>
                    <m:r>
                      <m:rPr>
                        <m:nor/>
                      </m:rPr>
                      <a:rPr lang="en-US" altLang="ja-JP" i="0"/>
                      <m:t>× 0.5</m:t>
                    </m:r>
                  </m:oMath>
                </a14:m>
                <a:r>
                  <a:rPr lang="ja-JP" altLang="en-US" dirty="0">
                    <a:solidFill>
                      <a:srgbClr val="1F1F1F"/>
                    </a:solidFill>
                    <a:latin typeface="Google Sans Text"/>
                  </a:rPr>
                  <a:t>　</a:t>
                </a:r>
                <a:endParaRPr lang="en-US" altLang="ja-JP" dirty="0">
                  <a:solidFill>
                    <a:srgbClr val="1F1F1F"/>
                  </a:solidFill>
                  <a:latin typeface="Google Sans Text"/>
                </a:endParaRPr>
              </a:p>
              <a:p>
                <a:endParaRPr lang="ja-JP" altLang="ja-JP" dirty="0">
                  <a:solidFill>
                    <a:srgbClr val="1F1F1F"/>
                  </a:solidFill>
                  <a:latin typeface="Google Sans Text"/>
                </a:endParaRPr>
              </a:p>
            </p:txBody>
          </p:sp>
        </mc:Choice>
        <mc:Fallback xmlns="">
          <p:sp>
            <p:nvSpPr>
              <p:cNvPr id="9" name="テキスト ボックス 8">
                <a:extLst>
                  <a:ext uri="{FF2B5EF4-FFF2-40B4-BE49-F238E27FC236}">
                    <a16:creationId xmlns:a16="http://schemas.microsoft.com/office/drawing/2014/main" id="{724767E0-EB22-23D2-6A8B-70871D5EE423}"/>
                  </a:ext>
                </a:extLst>
              </p:cNvPr>
              <p:cNvSpPr txBox="1">
                <a:spLocks noRot="1" noChangeAspect="1" noMove="1" noResize="1" noEditPoints="1" noAdjustHandles="1" noChangeArrowheads="1" noChangeShapeType="1" noTextEdit="1"/>
              </p:cNvSpPr>
              <p:nvPr/>
            </p:nvSpPr>
            <p:spPr>
              <a:xfrm>
                <a:off x="947056" y="5767327"/>
                <a:ext cx="10036629" cy="923330"/>
              </a:xfrm>
              <a:prstGeom prst="rect">
                <a:avLst/>
              </a:prstGeom>
              <a:blipFill>
                <a:blip r:embed="rId5"/>
                <a:stretch>
                  <a:fillRect l="-486" t="-263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77176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87A99F-6488-9C65-D59B-39E9AE7FE1F7}"/>
              </a:ext>
            </a:extLst>
          </p:cNvPr>
          <p:cNvSpPr>
            <a:spLocks noGrp="1"/>
          </p:cNvSpPr>
          <p:nvPr>
            <p:ph type="title"/>
          </p:nvPr>
        </p:nvSpPr>
        <p:spPr/>
        <p:txBody>
          <a:bodyPr/>
          <a:lstStyle/>
          <a:p>
            <a:r>
              <a:rPr kumimoji="1" lang="ja-JP" altLang="en-US" dirty="0"/>
              <a:t>今後の課題</a:t>
            </a:r>
          </a:p>
        </p:txBody>
      </p:sp>
      <p:sp>
        <p:nvSpPr>
          <p:cNvPr id="3" name="コンテンツ プレースホルダー 2">
            <a:extLst>
              <a:ext uri="{FF2B5EF4-FFF2-40B4-BE49-F238E27FC236}">
                <a16:creationId xmlns:a16="http://schemas.microsoft.com/office/drawing/2014/main" id="{FABE7AA2-3C9A-D670-F231-D18A0BDF3807}"/>
              </a:ext>
            </a:extLst>
          </p:cNvPr>
          <p:cNvSpPr>
            <a:spLocks noGrp="1"/>
          </p:cNvSpPr>
          <p:nvPr>
            <p:ph idx="1"/>
          </p:nvPr>
        </p:nvSpPr>
        <p:spPr>
          <a:xfrm>
            <a:off x="984343" y="1581506"/>
            <a:ext cx="10515600" cy="5276494"/>
          </a:xfrm>
        </p:spPr>
        <p:txBody>
          <a:bodyPr>
            <a:normAutofit/>
          </a:bodyPr>
          <a:lstStyle/>
          <a:p>
            <a:pPr marL="0" lvl="0" indent="0">
              <a:lnSpc>
                <a:spcPct val="200000"/>
              </a:lnSpc>
              <a:buNone/>
            </a:pPr>
            <a:r>
              <a:rPr lang="ja-JP" altLang="en-US" dirty="0"/>
              <a:t>１</a:t>
            </a:r>
            <a:r>
              <a:rPr lang="en-US" altLang="ja-JP" dirty="0"/>
              <a:t>.</a:t>
            </a:r>
            <a:r>
              <a:rPr lang="ja-JP" altLang="ja-JP" dirty="0"/>
              <a:t>ユーザー評価の実施</a:t>
            </a:r>
            <a:endParaRPr lang="en-US" altLang="ja-JP" dirty="0"/>
          </a:p>
          <a:p>
            <a:pPr lvl="1">
              <a:lnSpc>
                <a:spcPct val="200000"/>
              </a:lnSpc>
            </a:pPr>
            <a:r>
              <a:rPr lang="ja-JP" altLang="ja-JP" dirty="0"/>
              <a:t>実際</a:t>
            </a:r>
            <a:r>
              <a:rPr lang="ja-JP" altLang="en-US" dirty="0"/>
              <a:t>に</a:t>
            </a:r>
            <a:r>
              <a:rPr lang="ja-JP" altLang="ja-JP" dirty="0"/>
              <a:t>本システムを運用し、アイデアの創出頻度や想起のしやすさに関する主観評価・定性評価を行</a:t>
            </a:r>
            <a:r>
              <a:rPr lang="ja-JP" altLang="en-US" dirty="0"/>
              <a:t>う</a:t>
            </a:r>
            <a:endParaRPr lang="en-US" altLang="ja-JP" dirty="0"/>
          </a:p>
          <a:p>
            <a:pPr marL="0" lvl="0" indent="0">
              <a:lnSpc>
                <a:spcPct val="200000"/>
              </a:lnSpc>
              <a:buNone/>
            </a:pPr>
            <a:r>
              <a:rPr lang="ja-JP" altLang="en-US" dirty="0"/>
              <a:t>２</a:t>
            </a:r>
            <a:r>
              <a:rPr lang="en-US" altLang="ja-JP" dirty="0"/>
              <a:t>.</a:t>
            </a:r>
            <a:r>
              <a:rPr lang="ja-JP" altLang="ja-JP" dirty="0"/>
              <a:t> メモ</a:t>
            </a:r>
            <a:r>
              <a:rPr lang="ja-JP" altLang="en-US" dirty="0"/>
              <a:t>の</a:t>
            </a:r>
            <a:r>
              <a:rPr lang="ja-JP" altLang="ja-JP" dirty="0"/>
              <a:t>蓄積データを</a:t>
            </a:r>
            <a:r>
              <a:rPr lang="ja-JP" altLang="en-US" dirty="0"/>
              <a:t>増やした場合の性能評価</a:t>
            </a:r>
            <a:endParaRPr lang="ja-JP" altLang="ja-JP" dirty="0"/>
          </a:p>
          <a:p>
            <a:pPr marL="0" lvl="0" indent="0">
              <a:lnSpc>
                <a:spcPct val="200000"/>
              </a:lnSpc>
              <a:buNone/>
            </a:pPr>
            <a:endParaRPr lang="ja-JP" altLang="ja-JP" dirty="0"/>
          </a:p>
          <a:p>
            <a:pPr lvl="1">
              <a:lnSpc>
                <a:spcPct val="200000"/>
              </a:lnSpc>
            </a:pPr>
            <a:endParaRPr lang="en-US" altLang="ja-JP" dirty="0"/>
          </a:p>
        </p:txBody>
      </p:sp>
    </p:spTree>
    <p:extLst>
      <p:ext uri="{BB962C8B-B14F-4D97-AF65-F5344CB8AC3E}">
        <p14:creationId xmlns:p14="http://schemas.microsoft.com/office/powerpoint/2010/main" val="154855207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482</TotalTime>
  <Words>1166</Words>
  <Application>Microsoft Office PowerPoint</Application>
  <PresentationFormat>ワイド画面</PresentationFormat>
  <Paragraphs>92</Paragraphs>
  <Slides>8</Slides>
  <Notes>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Google Sans Text</vt:lpstr>
      <vt:lpstr>游ゴシック</vt:lpstr>
      <vt:lpstr>游ゴシック Light</vt:lpstr>
      <vt:lpstr>Arial</vt:lpstr>
      <vt:lpstr>Cambria Math</vt:lpstr>
      <vt:lpstr>Office テーマ</vt:lpstr>
      <vt:lpstr>引力ノート AIを活用した関連メモ推薦 システム</vt:lpstr>
      <vt:lpstr>背景</vt:lpstr>
      <vt:lpstr>目的：過去のアイデアを無意識に再利用できるようにしたい</vt:lpstr>
      <vt:lpstr>問題：従来の管理方法では過去のアイデアが埋もれる</vt:lpstr>
      <vt:lpstr>提案： AIを用いた引力ノート</vt:lpstr>
      <vt:lpstr>システム構成図</vt:lpstr>
      <vt:lpstr>実験と結果</vt:lpstr>
      <vt:lpstr>今後の課題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j23117kh</dc:creator>
  <cp:lastModifiedBy>j23117kh</cp:lastModifiedBy>
  <cp:revision>17</cp:revision>
  <dcterms:created xsi:type="dcterms:W3CDTF">2026-10-19T02:21:08Z</dcterms:created>
  <dcterms:modified xsi:type="dcterms:W3CDTF">2026-10-23T10:44:45Z</dcterms:modified>
</cp:coreProperties>
</file>